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Bold" panose="02000000000000000000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442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10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41302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Transforme espaços ociosos em novas oportunidades de receita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96717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Alugue por hora. Alcance mais clientes. Tenha mais flexibilidade.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mesmo espaço pode gerar receita de diferentes formas: por hora, diária ou recorrência.</a:t>
            </a:r>
            <a:endParaRPr lang="en-US" sz="14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FB0A4D4-67C5-470F-9D06-9B728FC0E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576" y="6486473"/>
            <a:ext cx="2324424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8EA73861-609B-422B-93B1-FE9F8B77C2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9"/>
          <a:stretch/>
        </p:blipFill>
        <p:spPr>
          <a:xfrm>
            <a:off x="661376" y="4821135"/>
            <a:ext cx="10868745" cy="75215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13187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que vender por hora ou de forma avulsa?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8738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48275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Clientes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891433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Baixo compromisso para o cliente — atende reuniões, atendimentos, entrevistas e treinamentos. Acesso a clientes ocasionais que não considerariam contrato mensal.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28738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48275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Receita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89143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Monetização dos horários ociosos com preço dinâmico conforme demanda. Maior aproveitamento da capacidade instalada.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28738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48275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Flexibilidade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89143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Venda por hora, diária ou recorrência. O cliente testa antes de assumir um compromisso maior.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44936" y="5024140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"O espaço que ficaria vazio pode se transformar em receita."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811514"/>
            <a:ext cx="25399" cy="727670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9E6CE13-20F1-4D96-8031-2F7B5AA6B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576" y="6422664"/>
            <a:ext cx="2324424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5">
            <a:extLst>
              <a:ext uri="{FF2B5EF4-FFF2-40B4-BE49-F238E27FC236}">
                <a16:creationId xmlns:a16="http://schemas.microsoft.com/office/drawing/2014/main" id="{F0FABADF-C175-4D33-B60F-73DC29BAC30B}"/>
              </a:ext>
            </a:extLst>
          </p:cNvPr>
          <p:cNvSpPr/>
          <p:nvPr/>
        </p:nvSpPr>
        <p:spPr>
          <a:xfrm>
            <a:off x="5403698" y="5947966"/>
            <a:ext cx="5956183" cy="295275"/>
          </a:xfrm>
          <a:prstGeom prst="roundRect">
            <a:avLst>
              <a:gd name="adj" fmla="val 27159"/>
            </a:avLst>
          </a:prstGeom>
          <a:solidFill>
            <a:schemeClr val="accent4">
              <a:lumMod val="20000"/>
              <a:lumOff val="80000"/>
              <a:alpha val="94902"/>
            </a:schemeClr>
          </a:solidFill>
          <a:ln/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0751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ocupação. Mais clientes. Mais possibilidades de receita.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875558"/>
            <a:ext cx="181744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46765" y="2932212"/>
            <a:ext cx="22002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TRADICIONAL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323830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Único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3722588"/>
            <a:ext cx="2917851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locatário | Contrato de longo prazo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Receita previsível | Menor flexibilidade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Horários ociosos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não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geram receita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82594" y="2662932"/>
            <a:ext cx="3190101" cy="3072408"/>
          </a:xfrm>
          <a:prstGeom prst="roundRect">
            <a:avLst>
              <a:gd name="adj" fmla="val 4430"/>
            </a:avLst>
          </a:prstGeom>
          <a:solidFill>
            <a:schemeClr val="accent1">
              <a:lumMod val="40000"/>
              <a:lumOff val="60000"/>
              <a:alpha val="94902"/>
            </a:schemeClr>
          </a:solidFill>
          <a:ln/>
        </p:spPr>
      </p:sp>
      <p:sp>
        <p:nvSpPr>
          <p:cNvPr id="9" name="Shape 6"/>
          <p:cNvSpPr/>
          <p:nvPr/>
        </p:nvSpPr>
        <p:spPr>
          <a:xfrm>
            <a:off x="8671601" y="2875558"/>
            <a:ext cx="159916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85005" y="2932212"/>
            <a:ext cx="19819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POR HORA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71601" y="3238302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Múltiplos Clientes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671601" y="3722588"/>
            <a:ext cx="2812087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Vários clientes | Reservas pontuais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Maior alcance de público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Preço dinâmico | Monetização da ociosidade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19287" y="5929039"/>
            <a:ext cx="5956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Arial" panose="020B0604020202020204" pitchFamily="34" charset="0"/>
                <a:ea typeface="Roboto Bold" pitchFamily="34" charset="-122"/>
                <a:cs typeface="Arial" panose="020B0604020202020204" pitchFamily="34" charset="0"/>
              </a:rPr>
              <a:t>Diversificação + ocupação + flexibilidade = maior potencial de receita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60CB890-247F-4630-8E34-8B0E36467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576" y="6488781"/>
            <a:ext cx="2324424" cy="371527"/>
          </a:xfrm>
          <a:prstGeom prst="rect">
            <a:avLst/>
          </a:prstGeom>
        </p:spPr>
      </p:pic>
      <p:pic>
        <p:nvPicPr>
          <p:cNvPr id="1026" name="Picture 2" descr="Ícones de lampada em SVG, PNG, AI para baixar.">
            <a:extLst>
              <a:ext uri="{FF2B5EF4-FFF2-40B4-BE49-F238E27FC236}">
                <a16:creationId xmlns:a16="http://schemas.microsoft.com/office/drawing/2014/main" id="{B6B1103D-DF75-4F8E-8EDC-6B6D3456C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288" y="6003927"/>
            <a:ext cx="234892" cy="23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Agrupar 41">
            <a:extLst>
              <a:ext uri="{FF2B5EF4-FFF2-40B4-BE49-F238E27FC236}">
                <a16:creationId xmlns:a16="http://schemas.microsoft.com/office/drawing/2014/main" id="{9A0B63F2-92EE-4790-9D8D-8906FDC5F0C5}"/>
              </a:ext>
            </a:extLst>
          </p:cNvPr>
          <p:cNvGrpSpPr/>
          <p:nvPr/>
        </p:nvGrpSpPr>
        <p:grpSpPr>
          <a:xfrm>
            <a:off x="4363133" y="3837682"/>
            <a:ext cx="3440026" cy="1580555"/>
            <a:chOff x="686874" y="2195711"/>
            <a:chExt cx="3440026" cy="1580555"/>
          </a:xfrm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98DC8099-D0C3-45E1-B442-DFF58997DE3B}"/>
                </a:ext>
              </a:extLst>
            </p:cNvPr>
            <p:cNvSpPr/>
            <p:nvPr/>
          </p:nvSpPr>
          <p:spPr>
            <a:xfrm>
              <a:off x="686874" y="2195711"/>
              <a:ext cx="3440026" cy="1580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813B55D9-C29F-4B3B-82EC-575AB3A899A2}"/>
                </a:ext>
              </a:extLst>
            </p:cNvPr>
            <p:cNvSpPr/>
            <p:nvPr/>
          </p:nvSpPr>
          <p:spPr>
            <a:xfrm>
              <a:off x="686874" y="3712468"/>
              <a:ext cx="3440026" cy="637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439F5FA2-84FF-4B81-BE0B-DF514A4B3414}"/>
              </a:ext>
            </a:extLst>
          </p:cNvPr>
          <p:cNvGrpSpPr/>
          <p:nvPr/>
        </p:nvGrpSpPr>
        <p:grpSpPr>
          <a:xfrm>
            <a:off x="674174" y="3819922"/>
            <a:ext cx="3440026" cy="1580555"/>
            <a:chOff x="686874" y="2195711"/>
            <a:chExt cx="3440026" cy="1580555"/>
          </a:xfrm>
        </p:grpSpPr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E49C47A9-1B2C-460F-88BA-B295820DD511}"/>
                </a:ext>
              </a:extLst>
            </p:cNvPr>
            <p:cNvSpPr/>
            <p:nvPr/>
          </p:nvSpPr>
          <p:spPr>
            <a:xfrm>
              <a:off x="686874" y="2195711"/>
              <a:ext cx="3440026" cy="1580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8B04B1B5-2B1B-472A-AE51-D2CFB0ED2C29}"/>
                </a:ext>
              </a:extLst>
            </p:cNvPr>
            <p:cNvSpPr/>
            <p:nvPr/>
          </p:nvSpPr>
          <p:spPr>
            <a:xfrm>
              <a:off x="686874" y="3712468"/>
              <a:ext cx="3440026" cy="637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01212D16-42E4-4215-A829-EF201BE15A10}"/>
              </a:ext>
            </a:extLst>
          </p:cNvPr>
          <p:cNvGrpSpPr/>
          <p:nvPr/>
        </p:nvGrpSpPr>
        <p:grpSpPr>
          <a:xfrm>
            <a:off x="8064793" y="2195711"/>
            <a:ext cx="3440026" cy="1580555"/>
            <a:chOff x="686874" y="2195711"/>
            <a:chExt cx="3440026" cy="1580555"/>
          </a:xfrm>
        </p:grpSpPr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02C68750-A1F8-4463-BE8A-C8F375DCBFD2}"/>
                </a:ext>
              </a:extLst>
            </p:cNvPr>
            <p:cNvSpPr/>
            <p:nvPr/>
          </p:nvSpPr>
          <p:spPr>
            <a:xfrm>
              <a:off x="686874" y="2195711"/>
              <a:ext cx="3440026" cy="1580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049244DB-9FC8-47B9-B559-10EE06E79690}"/>
                </a:ext>
              </a:extLst>
            </p:cNvPr>
            <p:cNvSpPr/>
            <p:nvPr/>
          </p:nvSpPr>
          <p:spPr>
            <a:xfrm>
              <a:off x="686874" y="3712468"/>
              <a:ext cx="3440026" cy="637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69A06722-73D5-48B2-8809-D078F23399B0}"/>
              </a:ext>
            </a:extLst>
          </p:cNvPr>
          <p:cNvGrpSpPr/>
          <p:nvPr/>
        </p:nvGrpSpPr>
        <p:grpSpPr>
          <a:xfrm>
            <a:off x="4363133" y="2195711"/>
            <a:ext cx="3440026" cy="1580555"/>
            <a:chOff x="686874" y="2195711"/>
            <a:chExt cx="3440026" cy="1580555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7E6E384D-7E58-47F9-843E-C78B402E2643}"/>
                </a:ext>
              </a:extLst>
            </p:cNvPr>
            <p:cNvSpPr/>
            <p:nvPr/>
          </p:nvSpPr>
          <p:spPr>
            <a:xfrm>
              <a:off x="686874" y="2195711"/>
              <a:ext cx="3440026" cy="1580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7BFC79F6-ABA0-41E6-A1E9-60569A01776A}"/>
                </a:ext>
              </a:extLst>
            </p:cNvPr>
            <p:cNvSpPr/>
            <p:nvPr/>
          </p:nvSpPr>
          <p:spPr>
            <a:xfrm>
              <a:off x="686874" y="3712468"/>
              <a:ext cx="3440026" cy="637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AAB9715-1EA0-4877-9A7D-0A0669F3B027}"/>
              </a:ext>
            </a:extLst>
          </p:cNvPr>
          <p:cNvGrpSpPr/>
          <p:nvPr/>
        </p:nvGrpSpPr>
        <p:grpSpPr>
          <a:xfrm>
            <a:off x="686874" y="2195711"/>
            <a:ext cx="3440026" cy="1580555"/>
            <a:chOff x="686874" y="2195711"/>
            <a:chExt cx="3440026" cy="1580555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92F76F42-94CD-493B-A28F-E989646D0BB7}"/>
                </a:ext>
              </a:extLst>
            </p:cNvPr>
            <p:cNvSpPr/>
            <p:nvPr/>
          </p:nvSpPr>
          <p:spPr>
            <a:xfrm>
              <a:off x="686874" y="2195711"/>
              <a:ext cx="3440026" cy="1580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EBAF1100-7F26-4EBD-9CDF-502BA3E352FE}"/>
                </a:ext>
              </a:extLst>
            </p:cNvPr>
            <p:cNvSpPr/>
            <p:nvPr/>
          </p:nvSpPr>
          <p:spPr>
            <a:xfrm>
              <a:off x="686874" y="3712468"/>
              <a:ext cx="3440026" cy="637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ext 0"/>
          <p:cNvSpPr/>
          <p:nvPr/>
        </p:nvSpPr>
        <p:spPr>
          <a:xfrm>
            <a:off x="661475" y="7119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 controle manual à gestão inteligente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066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Nossa ERP centraliza toda a operação em um único ambiente.</a:t>
            </a:r>
            <a:endParaRPr lang="en-US" sz="1450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5E537774-BB84-41F9-B2E8-849FC3E64F9A}"/>
              </a:ext>
            </a:extLst>
          </p:cNvPr>
          <p:cNvGrpSpPr/>
          <p:nvPr/>
        </p:nvGrpSpPr>
        <p:grpSpPr>
          <a:xfrm>
            <a:off x="661475" y="2195711"/>
            <a:ext cx="3465426" cy="1315938"/>
            <a:chOff x="661475" y="2195711"/>
            <a:chExt cx="3465426" cy="1315938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1475" y="2195711"/>
              <a:ext cx="472468" cy="472480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1370177" y="2195711"/>
              <a:ext cx="2756724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3C3939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Centralização</a:t>
              </a:r>
              <a:endParaRPr lang="en-US" sz="18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370177" y="2604393"/>
              <a:ext cx="2756724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Imóveis, clientes, reservas, pagamentos e indicadores em um único lugar.</a:t>
              </a:r>
              <a:endParaRPr lang="en-US" sz="1450" dirty="0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81A0FC57-2404-40F6-8ECC-4683AAB8A0CD}"/>
              </a:ext>
            </a:extLst>
          </p:cNvPr>
          <p:cNvGrpSpPr/>
          <p:nvPr/>
        </p:nvGrpSpPr>
        <p:grpSpPr>
          <a:xfrm>
            <a:off x="4363135" y="2195711"/>
            <a:ext cx="3465425" cy="1315938"/>
            <a:chOff x="4363135" y="2195711"/>
            <a:chExt cx="3465425" cy="1315938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63135" y="2195711"/>
              <a:ext cx="472468" cy="472480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5071836" y="2195711"/>
              <a:ext cx="2756724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3C3939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Automação</a:t>
              </a:r>
              <a:endParaRPr lang="en-US" sz="18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5071836" y="2604393"/>
              <a:ext cx="2756724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Reservas e disponibilidade gerenciadas em tempo real, sem intervenção manual.</a:t>
              </a:r>
              <a:endParaRPr lang="en-US" sz="1450" dirty="0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245D9584-2890-45C0-8420-6D0975736816}"/>
              </a:ext>
            </a:extLst>
          </p:cNvPr>
          <p:cNvGrpSpPr/>
          <p:nvPr/>
        </p:nvGrpSpPr>
        <p:grpSpPr>
          <a:xfrm>
            <a:off x="8064794" y="2195711"/>
            <a:ext cx="3465426" cy="1315938"/>
            <a:chOff x="8064794" y="2195711"/>
            <a:chExt cx="3465426" cy="1315938"/>
          </a:xfrm>
        </p:grpSpPr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64794" y="2195711"/>
              <a:ext cx="472468" cy="472480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8773496" y="2195711"/>
              <a:ext cx="2756724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3C3939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Gestão Financeira</a:t>
              </a:r>
              <a:endParaRPr lang="en-US" sz="185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8773496" y="2604393"/>
              <a:ext cx="2756724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Receitas, pagamentos e histórico organizados e acessíveis a qualquer momento.</a:t>
              </a:r>
              <a:endParaRPr lang="en-US" sz="1450" dirty="0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53A00D0-5FB1-4C85-92A7-CEB3F889436C}"/>
              </a:ext>
            </a:extLst>
          </p:cNvPr>
          <p:cNvGrpSpPr/>
          <p:nvPr/>
        </p:nvGrpSpPr>
        <p:grpSpPr>
          <a:xfrm>
            <a:off x="661475" y="3889673"/>
            <a:ext cx="3465426" cy="1315938"/>
            <a:chOff x="661475" y="3889673"/>
            <a:chExt cx="3465426" cy="1315938"/>
          </a:xfrm>
        </p:grpSpPr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1475" y="3889673"/>
              <a:ext cx="472468" cy="472480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1370177" y="3889673"/>
              <a:ext cx="2756724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3C3939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Controle de Utilização</a:t>
              </a:r>
              <a:endParaRPr lang="en-US" sz="1850" dirty="0"/>
            </a:p>
          </p:txBody>
        </p:sp>
        <p:sp>
          <p:nvSpPr>
            <p:cNvPr id="15" name="Text 9"/>
            <p:cNvSpPr/>
            <p:nvPr/>
          </p:nvSpPr>
          <p:spPr>
            <a:xfrm>
              <a:off x="1370177" y="4298355"/>
              <a:ext cx="2756724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Visualize ocupação, horários mais procurados e desempenho por sala ou imóvel.</a:t>
              </a:r>
              <a:endParaRPr lang="en-US" sz="1450" dirty="0"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CF3F2F3-8B46-4231-8567-4F275D47158A}"/>
              </a:ext>
            </a:extLst>
          </p:cNvPr>
          <p:cNvGrpSpPr/>
          <p:nvPr/>
        </p:nvGrpSpPr>
        <p:grpSpPr>
          <a:xfrm>
            <a:off x="4363135" y="3889673"/>
            <a:ext cx="3465425" cy="1315938"/>
            <a:chOff x="4363135" y="3889673"/>
            <a:chExt cx="3465425" cy="1315938"/>
          </a:xfrm>
        </p:grpSpPr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63135" y="3889673"/>
              <a:ext cx="472468" cy="472480"/>
            </a:xfrm>
            <a:prstGeom prst="rect">
              <a:avLst/>
            </a:prstGeom>
          </p:spPr>
        </p:pic>
        <p:sp>
          <p:nvSpPr>
            <p:cNvPr id="17" name="Text 10"/>
            <p:cNvSpPr/>
            <p:nvPr/>
          </p:nvSpPr>
          <p:spPr>
            <a:xfrm>
              <a:off x="5071836" y="3889673"/>
              <a:ext cx="2756724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3C3939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Múltiplos Imóveis</a:t>
              </a:r>
              <a:endParaRPr lang="en-US" sz="1850" dirty="0"/>
            </a:p>
          </p:txBody>
        </p:sp>
        <p:sp>
          <p:nvSpPr>
            <p:cNvPr id="18" name="Text 11"/>
            <p:cNvSpPr/>
            <p:nvPr/>
          </p:nvSpPr>
          <p:spPr>
            <a:xfrm>
              <a:off x="5071836" y="4298355"/>
              <a:ext cx="2756724" cy="90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Administre diversas salas e propriedades em um sistema integrado e escalável.</a:t>
              </a:r>
              <a:endParaRPr lang="en-US" sz="1450" dirty="0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3BE55549-0013-4353-8765-A56BFCDC62C4}"/>
              </a:ext>
            </a:extLst>
          </p:cNvPr>
          <p:cNvGrpSpPr/>
          <p:nvPr/>
        </p:nvGrpSpPr>
        <p:grpSpPr>
          <a:xfrm>
            <a:off x="661474" y="5737019"/>
            <a:ext cx="11478331" cy="673505"/>
            <a:chOff x="661474" y="5418237"/>
            <a:chExt cx="11478331" cy="673505"/>
          </a:xfrm>
        </p:grpSpPr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E01FC820-7614-4493-ADF5-60155DB7A5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2979"/>
            <a:stretch/>
          </p:blipFill>
          <p:spPr>
            <a:xfrm>
              <a:off x="661474" y="5418238"/>
              <a:ext cx="10868745" cy="673504"/>
            </a:xfrm>
            <a:prstGeom prst="rect">
              <a:avLst/>
            </a:prstGeom>
          </p:spPr>
        </p:pic>
        <p:sp>
          <p:nvSpPr>
            <p:cNvPr id="19" name="Text 12"/>
            <p:cNvSpPr/>
            <p:nvPr/>
          </p:nvSpPr>
          <p:spPr>
            <a:xfrm>
              <a:off x="944936" y="5630863"/>
              <a:ext cx="11194869" cy="302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b="1" dirty="0">
                  <a:solidFill>
                    <a:srgbClr val="3C3939"/>
                  </a:solidFill>
                  <a:latin typeface="Roboto Bold" pitchFamily="34" charset="0"/>
                  <a:ea typeface="Roboto Bold" pitchFamily="34" charset="-122"/>
                  <a:cs typeface="Roboto Bold" pitchFamily="34" charset="-120"/>
                </a:rPr>
                <a:t>"Menos operação manual. Mais controle sobre o negócio."</a:t>
              </a:r>
              <a:endParaRPr lang="en-US" sz="1450" dirty="0"/>
            </a:p>
          </p:txBody>
        </p:sp>
        <p:sp>
          <p:nvSpPr>
            <p:cNvPr id="20" name="Shape 13"/>
            <p:cNvSpPr/>
            <p:nvPr/>
          </p:nvSpPr>
          <p:spPr>
            <a:xfrm>
              <a:off x="661475" y="5418237"/>
              <a:ext cx="45719" cy="673504"/>
            </a:xfrm>
            <a:prstGeom prst="roundRect">
              <a:avLst>
                <a:gd name="adj" fmla="val 50001"/>
              </a:avLst>
            </a:prstGeom>
            <a:solidFill>
              <a:srgbClr val="1B1B27"/>
            </a:solidFill>
            <a:ln/>
          </p:spPr>
        </p:sp>
      </p:grpSp>
      <p:pic>
        <p:nvPicPr>
          <p:cNvPr id="23" name="Imagem 22">
            <a:extLst>
              <a:ext uri="{FF2B5EF4-FFF2-40B4-BE49-F238E27FC236}">
                <a16:creationId xmlns:a16="http://schemas.microsoft.com/office/drawing/2014/main" id="{663E7ACE-F1B8-4033-87AE-7C4B23C8648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67576" y="6443951"/>
            <a:ext cx="2324424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4081BCFF-67C7-4AF4-B1BB-17BA61E42BE3}"/>
              </a:ext>
            </a:extLst>
          </p:cNvPr>
          <p:cNvSpPr/>
          <p:nvPr/>
        </p:nvSpPr>
        <p:spPr>
          <a:xfrm>
            <a:off x="3117908" y="5591699"/>
            <a:ext cx="5956183" cy="295275"/>
          </a:xfrm>
          <a:prstGeom prst="roundRect">
            <a:avLst>
              <a:gd name="adj" fmla="val 27159"/>
            </a:avLst>
          </a:prstGeom>
          <a:solidFill>
            <a:schemeClr val="accent4">
              <a:lumMod val="20000"/>
              <a:lumOff val="80000"/>
              <a:alpha val="94902"/>
            </a:schemeClr>
          </a:solidFill>
          <a:ln/>
        </p:spPr>
      </p:sp>
      <p:pic>
        <p:nvPicPr>
          <p:cNvPr id="20" name="Picture 2" descr="Ícones de lampada em SVG, PNG, AI para baixar.">
            <a:extLst>
              <a:ext uri="{FF2B5EF4-FFF2-40B4-BE49-F238E27FC236}">
                <a16:creationId xmlns:a16="http://schemas.microsoft.com/office/drawing/2014/main" id="{87B741AF-F520-4E82-B63E-F129059E4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908" y="5621890"/>
            <a:ext cx="234892" cy="23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661475" y="9613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potencial está na ocupação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193000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Sala com custo/receita-alvo de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R$ 3.000/mês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220 horas disponíveis | R$ 40/hora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(simulação ilustrativa)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53950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R$4.400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339943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50% de Ocupação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0811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110 horas × R$ 40/hora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63135" y="253950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R$6.160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4363135" y="339943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70% de Ocupação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363135" y="380811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154 horas × R$ 40/hora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64794" y="253950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220h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8064794" y="339943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Horas Disponíveis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064794" y="380811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Potencial máximo do espaço por mês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323159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590852"/>
            <a:ext cx="236234" cy="1890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5723" y="4559399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Simulação ilustrativa. Não considera custos operacionais, impostos, taxas, manutenção ou períodos sem demanda. Os valores são exemplos do potencial, não garantia de resultado.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56682" y="55941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"A ocupação é uma variável estratégica para monetizar o espaço."</a:t>
            </a:r>
            <a:endParaRPr lang="en-US" sz="14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89AE2A90-4C14-435A-B068-543032E83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576" y="6493616"/>
            <a:ext cx="2324424" cy="371527"/>
          </a:xfrm>
          <a:prstGeom prst="rect">
            <a:avLst/>
          </a:prstGeom>
        </p:spPr>
      </p:pic>
      <p:pic>
        <p:nvPicPr>
          <p:cNvPr id="3074" name="Picture 2" descr="Ganho - ícones de o negócio grátis">
            <a:extLst>
              <a:ext uri="{FF2B5EF4-FFF2-40B4-BE49-F238E27FC236}">
                <a16:creationId xmlns:a16="http://schemas.microsoft.com/office/drawing/2014/main" id="{427DE226-3396-49F9-AD79-485DD2DED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192" y="2526292"/>
            <a:ext cx="477313" cy="47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erda - ícones de o negócio grátis">
            <a:extLst>
              <a:ext uri="{FF2B5EF4-FFF2-40B4-BE49-F238E27FC236}">
                <a16:creationId xmlns:a16="http://schemas.microsoft.com/office/drawing/2014/main" id="{A9865C37-C58B-4140-95F7-67C9F6F83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55" y="2585744"/>
            <a:ext cx="477313" cy="47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m 35">
            <a:extLst>
              <a:ext uri="{FF2B5EF4-FFF2-40B4-BE49-F238E27FC236}">
                <a16:creationId xmlns:a16="http://schemas.microsoft.com/office/drawing/2014/main" id="{185C2A16-3DE5-4A61-95CE-E2149530BF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9"/>
          <a:stretch/>
        </p:blipFill>
        <p:spPr>
          <a:xfrm>
            <a:off x="661474" y="4964390"/>
            <a:ext cx="10868745" cy="75215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4764" y="2120702"/>
            <a:ext cx="2575456" cy="2644874"/>
          </a:xfrm>
          <a:prstGeom prst="rect">
            <a:avLst/>
          </a:prstGeom>
        </p:spPr>
      </p:pic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086A41D-1B79-4284-8B92-E41018C8DEBB}"/>
              </a:ext>
            </a:extLst>
          </p:cNvPr>
          <p:cNvGrpSpPr/>
          <p:nvPr/>
        </p:nvGrpSpPr>
        <p:grpSpPr>
          <a:xfrm>
            <a:off x="8952224" y="2136299"/>
            <a:ext cx="2575357" cy="2644874"/>
            <a:chOff x="661475" y="2120702"/>
            <a:chExt cx="2575357" cy="2644874"/>
          </a:xfrm>
        </p:grpSpPr>
        <p:pic>
          <p:nvPicPr>
            <p:cNvPr id="29" name="Image 0" descr="preencoded.png">
              <a:extLst>
                <a:ext uri="{FF2B5EF4-FFF2-40B4-BE49-F238E27FC236}">
                  <a16:creationId xmlns:a16="http://schemas.microsoft.com/office/drawing/2014/main" id="{10806EA6-9CF5-45EE-ADD2-D0B683F0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1475" y="2120702"/>
              <a:ext cx="2575357" cy="2644874"/>
            </a:xfrm>
            <a:prstGeom prst="rect">
              <a:avLst/>
            </a:prstGeom>
          </p:spPr>
        </p:pic>
        <p:pic>
          <p:nvPicPr>
            <p:cNvPr id="30" name="Image 0" descr="preencoded.png">
              <a:extLst>
                <a:ext uri="{FF2B5EF4-FFF2-40B4-BE49-F238E27FC236}">
                  <a16:creationId xmlns:a16="http://schemas.microsoft.com/office/drawing/2014/main" id="{51106AE4-1DAF-4E4C-8917-EE16096E12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3632"/>
            <a:stretch/>
          </p:blipFill>
          <p:spPr>
            <a:xfrm>
              <a:off x="755009" y="2120702"/>
              <a:ext cx="2481823" cy="2644874"/>
            </a:xfrm>
            <a:prstGeom prst="rect">
              <a:avLst/>
            </a:prstGeom>
          </p:spPr>
        </p:pic>
      </p:grp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2120702"/>
            <a:ext cx="2575456" cy="2644874"/>
          </a:xfrm>
          <a:prstGeom prst="rect">
            <a:avLst/>
          </a:prstGeom>
        </p:spPr>
      </p:pic>
      <p:grpSp>
        <p:nvGrpSpPr>
          <p:cNvPr id="25" name="Agrupar 24">
            <a:extLst>
              <a:ext uri="{FF2B5EF4-FFF2-40B4-BE49-F238E27FC236}">
                <a16:creationId xmlns:a16="http://schemas.microsoft.com/office/drawing/2014/main" id="{FE6342FA-D66D-40B6-AE64-93A56B76B728}"/>
              </a:ext>
            </a:extLst>
          </p:cNvPr>
          <p:cNvGrpSpPr/>
          <p:nvPr/>
        </p:nvGrpSpPr>
        <p:grpSpPr>
          <a:xfrm>
            <a:off x="6165001" y="2120702"/>
            <a:ext cx="2575357" cy="2644874"/>
            <a:chOff x="661475" y="2120702"/>
            <a:chExt cx="2575357" cy="2644874"/>
          </a:xfrm>
        </p:grpSpPr>
        <p:pic>
          <p:nvPicPr>
            <p:cNvPr id="26" name="Image 0" descr="preencoded.png">
              <a:extLst>
                <a:ext uri="{FF2B5EF4-FFF2-40B4-BE49-F238E27FC236}">
                  <a16:creationId xmlns:a16="http://schemas.microsoft.com/office/drawing/2014/main" id="{D261E7E2-721E-4F49-A655-DCC70B79B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1475" y="2120702"/>
              <a:ext cx="2575357" cy="2644874"/>
            </a:xfrm>
            <a:prstGeom prst="rect">
              <a:avLst/>
            </a:prstGeom>
          </p:spPr>
        </p:pic>
        <p:pic>
          <p:nvPicPr>
            <p:cNvPr id="27" name="Image 0" descr="preencoded.png">
              <a:extLst>
                <a:ext uri="{FF2B5EF4-FFF2-40B4-BE49-F238E27FC236}">
                  <a16:creationId xmlns:a16="http://schemas.microsoft.com/office/drawing/2014/main" id="{1E88F877-2B76-415B-88F4-13EE0BC20D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3632"/>
            <a:stretch/>
          </p:blipFill>
          <p:spPr>
            <a:xfrm>
              <a:off x="755009" y="2120702"/>
              <a:ext cx="2481823" cy="2644874"/>
            </a:xfrm>
            <a:prstGeom prst="rect">
              <a:avLst/>
            </a:prstGeom>
          </p:spPr>
        </p:pic>
      </p:grp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5839" y="2120702"/>
            <a:ext cx="2575456" cy="2644874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9A38C27-8247-4FE6-AB09-11AECCBE9BFE}"/>
              </a:ext>
            </a:extLst>
          </p:cNvPr>
          <p:cNvGrpSpPr/>
          <p:nvPr/>
        </p:nvGrpSpPr>
        <p:grpSpPr>
          <a:xfrm>
            <a:off x="3425838" y="2120702"/>
            <a:ext cx="2575357" cy="2644874"/>
            <a:chOff x="661475" y="2120702"/>
            <a:chExt cx="2575357" cy="2644874"/>
          </a:xfrm>
        </p:grpSpPr>
        <p:pic>
          <p:nvPicPr>
            <p:cNvPr id="23" name="Image 0" descr="preencoded.png">
              <a:extLst>
                <a:ext uri="{FF2B5EF4-FFF2-40B4-BE49-F238E27FC236}">
                  <a16:creationId xmlns:a16="http://schemas.microsoft.com/office/drawing/2014/main" id="{B157D8FF-D189-468A-ACA0-184BF1CE9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1475" y="2120702"/>
              <a:ext cx="2575357" cy="2644874"/>
            </a:xfrm>
            <a:prstGeom prst="rect">
              <a:avLst/>
            </a:prstGeom>
          </p:spPr>
        </p:pic>
        <p:pic>
          <p:nvPicPr>
            <p:cNvPr id="24" name="Image 0" descr="preencoded.png">
              <a:extLst>
                <a:ext uri="{FF2B5EF4-FFF2-40B4-BE49-F238E27FC236}">
                  <a16:creationId xmlns:a16="http://schemas.microsoft.com/office/drawing/2014/main" id="{526B04E9-3F4E-4818-8B75-E40475D180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3632"/>
            <a:stretch/>
          </p:blipFill>
          <p:spPr>
            <a:xfrm>
              <a:off x="755009" y="2120702"/>
              <a:ext cx="2481823" cy="2644874"/>
            </a:xfrm>
            <a:prstGeom prst="rect">
              <a:avLst/>
            </a:prstGeom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C15D09F-4833-47A5-862E-42DC1745A4E0}"/>
              </a:ext>
            </a:extLst>
          </p:cNvPr>
          <p:cNvGrpSpPr/>
          <p:nvPr/>
        </p:nvGrpSpPr>
        <p:grpSpPr>
          <a:xfrm>
            <a:off x="661475" y="2120702"/>
            <a:ext cx="2575357" cy="2644874"/>
            <a:chOff x="661475" y="2120702"/>
            <a:chExt cx="2575357" cy="2644874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1475" y="2120702"/>
              <a:ext cx="2575357" cy="2644874"/>
            </a:xfrm>
            <a:prstGeom prst="rect">
              <a:avLst/>
            </a:prstGeom>
          </p:spPr>
        </p:pic>
        <p:pic>
          <p:nvPicPr>
            <p:cNvPr id="17" name="Image 0" descr="preencoded.png">
              <a:extLst>
                <a:ext uri="{FF2B5EF4-FFF2-40B4-BE49-F238E27FC236}">
                  <a16:creationId xmlns:a16="http://schemas.microsoft.com/office/drawing/2014/main" id="{BD714692-E6AC-4BB8-BC52-D929C2CCD1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3632"/>
            <a:stretch/>
          </p:blipFill>
          <p:spPr>
            <a:xfrm>
              <a:off x="755009" y="2120702"/>
              <a:ext cx="2481823" cy="2644874"/>
            </a:xfrm>
            <a:prstGeom prst="rect">
              <a:avLst/>
            </a:prstGeom>
          </p:spPr>
        </p:pic>
      </p:grpSp>
      <p:sp>
        <p:nvSpPr>
          <p:cNvPr id="2" name="Text 0"/>
          <p:cNvSpPr/>
          <p:nvPr/>
        </p:nvSpPr>
        <p:spPr>
          <a:xfrm>
            <a:off x="661475" y="11520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que o cliente escolheria alugar por hora?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977479" y="2335113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💰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Economia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743795"/>
            <a:ext cx="204494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Paga somente pelo tempo utilizado. Sem contrato de longo prazo para necessidades pontuais.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3741842" y="2335113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Praticidade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741842" y="2743795"/>
            <a:ext cx="204504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Reserva rápida com disponibilidade em tempo real e preço transparente antes da confirmação.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506305" y="2335113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🗺️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Liberdade de Escolha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506305" y="3039070"/>
            <a:ext cx="204504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Diferentes salas, locais e tamanhos. Flexibilidade para reservar por hora, período ou diária.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9270768" y="2335113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🔒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Segurança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270768" y="2743795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Registro completo da reserva com rastreabilidade total.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944936" y="5190827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"Use o espaço que precisa, pelo tempo que precisa."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61475" y="4978202"/>
            <a:ext cx="25399" cy="727670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5E72F3C-C8CE-4854-B3C7-196CB9C674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7576" y="6484376"/>
            <a:ext cx="2324424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40D10A9C-718B-40AD-8710-8C8AEA0B2EBB}"/>
              </a:ext>
            </a:extLst>
          </p:cNvPr>
          <p:cNvSpPr/>
          <p:nvPr/>
        </p:nvSpPr>
        <p:spPr>
          <a:xfrm>
            <a:off x="2189527" y="5946516"/>
            <a:ext cx="3112315" cy="295275"/>
          </a:xfrm>
          <a:prstGeom prst="roundRect">
            <a:avLst>
              <a:gd name="adj" fmla="val 27159"/>
            </a:avLst>
          </a:prstGeom>
          <a:solidFill>
            <a:schemeClr val="accent4">
              <a:lumMod val="20000"/>
              <a:lumOff val="80000"/>
              <a:alpha val="94902"/>
            </a:schemeClr>
          </a:solidFill>
          <a:ln/>
        </p:spPr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861E603-1975-4BE1-98D7-B0BEFC1F42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9"/>
          <a:stretch/>
        </p:blipFill>
        <p:spPr>
          <a:xfrm>
            <a:off x="661475" y="4831804"/>
            <a:ext cx="6389123" cy="92293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31031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Uma nova forma de conectar espaços e pessoas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2174478"/>
            <a:ext cx="1698384" cy="269180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767735" y="2227560"/>
            <a:ext cx="2095448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O PROPRIETÁRIO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26214" y="2691309"/>
            <a:ext cx="2367598" cy="83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B38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ocupação</a:t>
            </a: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 possibilidades de receita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26214" y="3915073"/>
            <a:ext cx="2367598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B38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controle</a:t>
            </a: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 menos trabalho manual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032348" y="2174478"/>
            <a:ext cx="1474155" cy="269180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9" name="Text 6"/>
          <p:cNvSpPr/>
          <p:nvPr/>
        </p:nvSpPr>
        <p:spPr>
          <a:xfrm>
            <a:off x="4138608" y="2227560"/>
            <a:ext cx="1871219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QUEM ALUGA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97087" y="2691309"/>
            <a:ext cx="2367598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D9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Mais flexibilidade</a:t>
            </a: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 pagamento pelo uso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97087" y="3638153"/>
            <a:ext cx="2367598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D9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Reserva rápida</a:t>
            </a: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 mais opções de espaços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27275" y="5029398"/>
            <a:ext cx="60310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"Transformamos a gestão de espaços por hora em uma operação simples, organizada e escalável."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4842570"/>
            <a:ext cx="19050" cy="92293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82" y="5952331"/>
            <a:ext cx="690644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Descubra o potencial do seu espaço.</a:t>
            </a:r>
            <a:endParaRPr lang="en-US" sz="1350" dirty="0"/>
          </a:p>
        </p:txBody>
      </p:sp>
      <p:pic>
        <p:nvPicPr>
          <p:cNvPr id="18" name="Picture 2" descr="Ícones de lampada em SVG, PNG, AI para baixar.">
            <a:extLst>
              <a:ext uri="{FF2B5EF4-FFF2-40B4-BE49-F238E27FC236}">
                <a16:creationId xmlns:a16="http://schemas.microsoft.com/office/drawing/2014/main" id="{08D699C6-2C0A-441A-B08D-C1B1E9EE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527" y="5976707"/>
            <a:ext cx="234892" cy="23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552</Words>
  <Application>Microsoft Office PowerPoint</Application>
  <PresentationFormat>Widescreen</PresentationFormat>
  <Paragraphs>75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Calibri</vt:lpstr>
      <vt:lpstr>Raleway</vt:lpstr>
      <vt:lpstr>Roboto Bold</vt:lpstr>
      <vt:lpstr>Roboto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Pablo Ferreira Lira</cp:lastModifiedBy>
  <cp:revision>4</cp:revision>
  <dcterms:created xsi:type="dcterms:W3CDTF">2026-09-04T15:38:09Z</dcterms:created>
  <dcterms:modified xsi:type="dcterms:W3CDTF">2026-09-04T15:59:46Z</dcterms:modified>
</cp:coreProperties>
</file>