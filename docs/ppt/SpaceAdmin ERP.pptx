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67" r:id="rId10"/>
    <p:sldId id="268" r:id="rId11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JetBrains Mono"/>
      <p:regular r:id="rId16"/>
    </p:embeddedFont>
    <p:embeddedFont>
      <p:font typeface="Plus Jakarta Sans"/>
      <p: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  <a:srgbClr val="79BF94"/>
    <a:srgbClr val="5BAC7B"/>
    <a:srgbClr val="439568"/>
    <a:srgbClr val="347D56"/>
    <a:srgbClr val="246447"/>
    <a:srgbClr val="174D38"/>
    <a:srgbClr val="BCE0C9"/>
    <a:srgbClr val="F7BEC0"/>
    <a:srgbClr val="F09A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jfif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64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1A9678FB-5BB8-4E01-860F-84E79D13DA17}"/>
              </a:ext>
            </a:extLst>
          </p:cNvPr>
          <p:cNvSpPr/>
          <p:nvPr/>
        </p:nvSpPr>
        <p:spPr>
          <a:xfrm>
            <a:off x="609600" y="3053285"/>
            <a:ext cx="4095750" cy="2612019"/>
          </a:xfrm>
          <a:prstGeom prst="roundRect">
            <a:avLst>
              <a:gd name="adj" fmla="val 15000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09600" y="215830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7" name="Picture 6" descr="Escola com preenchimento sólid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600" y="55245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066800"/>
            <a:ext cx="10626328" cy="481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sz="3300" b="1" i="0" u="none" dirty="0" err="1">
                <a:solidFill>
                  <a:srgbClr val="FFFFFF"/>
                </a:solidFill>
                <a:latin typeface="Plus Jakarta Sans"/>
              </a:rPr>
              <a:t>SpaceAdmin</a:t>
            </a:r>
            <a:r>
              <a:rPr sz="3300" b="1" i="0" u="none" dirty="0">
                <a:solidFill>
                  <a:srgbClr val="FFFFFF"/>
                </a:solidFill>
                <a:latin typeface="Plus Jakarta Sans"/>
              </a:rPr>
              <a:t> ERP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663005"/>
            <a:ext cx="4202097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Plus Jakarta Sans"/>
              </a:rPr>
              <a:t>Gestão Integrada de Espaços e Salas Comerciais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A425C5A0-7539-4269-8BB5-C43DC692AEFB}"/>
              </a:ext>
            </a:extLst>
          </p:cNvPr>
          <p:cNvGrpSpPr/>
          <p:nvPr/>
        </p:nvGrpSpPr>
        <p:grpSpPr>
          <a:xfrm>
            <a:off x="817929" y="3145469"/>
            <a:ext cx="3595677" cy="2292037"/>
            <a:chOff x="609600" y="5740003"/>
            <a:chExt cx="10661094" cy="455042"/>
          </a:xfrm>
        </p:grpSpPr>
        <p:sp>
          <p:nvSpPr>
            <p:cNvPr id="10" name="TextBox 9"/>
            <p:cNvSpPr txBox="1"/>
            <p:nvPr/>
          </p:nvSpPr>
          <p:spPr>
            <a:xfrm>
              <a:off x="609600" y="5740003"/>
              <a:ext cx="6081197" cy="3666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u="none" dirty="0">
                  <a:solidFill>
                    <a:schemeClr val="bg1"/>
                  </a:solidFill>
                  <a:latin typeface="Plus Jakarta Sans"/>
                </a:rPr>
                <a:t>EQUIPE DE DESENVOLVIMENTO: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97944" y="5805829"/>
              <a:ext cx="10572750" cy="3892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39"/>
                </a:lnSpc>
              </a:pPr>
              <a:r>
                <a:rPr lang="pt-BR" sz="1200" b="0" i="0" u="none" dirty="0">
                  <a:solidFill>
                    <a:srgbClr val="CBD5E1"/>
                  </a:solidFill>
                  <a:latin typeface="Plus Jakarta Sans"/>
                </a:rPr>
                <a:t>• </a:t>
              </a:r>
              <a:r>
                <a:rPr sz="1200" b="0" i="0" u="none" dirty="0" err="1">
                  <a:solidFill>
                    <a:srgbClr val="CBD5E1"/>
                  </a:solidFill>
                  <a:latin typeface="Plus Jakarta Sans"/>
                </a:rPr>
                <a:t>Alecsandro</a:t>
              </a: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 Sabino da Silva </a:t>
              </a:r>
              <a:endParaRPr lang="pt-BR" sz="1200" b="0" i="0" u="none" dirty="0">
                <a:solidFill>
                  <a:srgbClr val="CBD5E1"/>
                </a:solidFill>
                <a:latin typeface="Plus Jakarta Sans"/>
              </a:endParaRPr>
            </a:p>
            <a:p>
              <a:pPr algn="l">
                <a:lnSpc>
                  <a:spcPts val="1439"/>
                </a:lnSpc>
              </a:pP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• Felipe Alves de Souza </a:t>
              </a:r>
              <a:endParaRPr lang="pt-BR" sz="1200" b="0" i="0" u="none" dirty="0">
                <a:solidFill>
                  <a:srgbClr val="CBD5E1"/>
                </a:solidFill>
                <a:latin typeface="Plus Jakarta Sans"/>
              </a:endParaRPr>
            </a:p>
            <a:p>
              <a:pPr algn="l">
                <a:lnSpc>
                  <a:spcPts val="1439"/>
                </a:lnSpc>
              </a:pP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• Gustavo José da Silva </a:t>
              </a:r>
              <a:endParaRPr lang="pt-BR" sz="1200" b="0" i="0" u="none" dirty="0">
                <a:solidFill>
                  <a:srgbClr val="CBD5E1"/>
                </a:solidFill>
                <a:latin typeface="Plus Jakarta Sans"/>
              </a:endParaRPr>
            </a:p>
            <a:p>
              <a:pPr algn="l">
                <a:lnSpc>
                  <a:spcPts val="1439"/>
                </a:lnSpc>
              </a:pP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• João Victor </a:t>
              </a:r>
              <a:r>
                <a:rPr sz="1200" b="0" i="0" u="none" dirty="0" err="1">
                  <a:solidFill>
                    <a:srgbClr val="CBD5E1"/>
                  </a:solidFill>
                  <a:latin typeface="Plus Jakarta Sans"/>
                </a:rPr>
                <a:t>Aversoni</a:t>
              </a: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 Branco </a:t>
              </a:r>
              <a:r>
                <a:rPr sz="1200" b="0" i="0" u="none" dirty="0" err="1">
                  <a:solidFill>
                    <a:srgbClr val="CBD5E1"/>
                  </a:solidFill>
                  <a:latin typeface="Plus Jakarta Sans"/>
                </a:rPr>
                <a:t>Morais</a:t>
              </a: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 </a:t>
              </a:r>
              <a:endParaRPr lang="pt-BR" sz="1200" b="0" i="0" u="none" dirty="0">
                <a:solidFill>
                  <a:srgbClr val="CBD5E1"/>
                </a:solidFill>
                <a:latin typeface="Plus Jakarta Sans"/>
              </a:endParaRPr>
            </a:p>
            <a:p>
              <a:pPr algn="l">
                <a:lnSpc>
                  <a:spcPts val="1439"/>
                </a:lnSpc>
              </a:pP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• Jonathan </a:t>
              </a:r>
              <a:r>
                <a:rPr sz="1200" b="0" i="0" u="none" dirty="0" err="1">
                  <a:solidFill>
                    <a:srgbClr val="CBD5E1"/>
                  </a:solidFill>
                  <a:latin typeface="Plus Jakarta Sans"/>
                </a:rPr>
                <a:t>Nilmar</a:t>
              </a: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 Mamani Chino </a:t>
              </a:r>
              <a:endParaRPr lang="pt-BR" sz="1200" b="0" i="0" u="none" dirty="0">
                <a:solidFill>
                  <a:srgbClr val="CBD5E1"/>
                </a:solidFill>
                <a:latin typeface="Plus Jakarta Sans"/>
              </a:endParaRPr>
            </a:p>
            <a:p>
              <a:pPr algn="l">
                <a:lnSpc>
                  <a:spcPts val="1439"/>
                </a:lnSpc>
              </a:pP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• </a:t>
              </a:r>
              <a:r>
                <a:rPr sz="1200" b="0" i="0" u="none" dirty="0" err="1">
                  <a:solidFill>
                    <a:srgbClr val="CBD5E1"/>
                  </a:solidFill>
                  <a:latin typeface="Plus Jakarta Sans"/>
                </a:rPr>
                <a:t>Kauê</a:t>
              </a: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 Duarte </a:t>
              </a:r>
              <a:r>
                <a:rPr sz="1200" b="0" i="0" u="none" dirty="0" err="1">
                  <a:solidFill>
                    <a:srgbClr val="CBD5E1"/>
                  </a:solidFill>
                  <a:latin typeface="Plus Jakarta Sans"/>
                </a:rPr>
                <a:t>Simões</a:t>
              </a: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 </a:t>
              </a:r>
              <a:endParaRPr lang="pt-BR" sz="1200" b="0" i="0" u="none" dirty="0">
                <a:solidFill>
                  <a:srgbClr val="CBD5E1"/>
                </a:solidFill>
                <a:latin typeface="Plus Jakarta Sans"/>
              </a:endParaRPr>
            </a:p>
            <a:p>
              <a:pPr algn="l">
                <a:lnSpc>
                  <a:spcPts val="1439"/>
                </a:lnSpc>
              </a:pPr>
              <a:r>
                <a:rPr lang="pt-BR" sz="1200" b="0" i="0" u="none" dirty="0">
                  <a:solidFill>
                    <a:srgbClr val="CBD5E1"/>
                  </a:solidFill>
                  <a:latin typeface="Plus Jakarta Sans"/>
                </a:rPr>
                <a:t>•</a:t>
              </a: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 Nicolas </a:t>
              </a:r>
              <a:r>
                <a:rPr sz="1200" b="0" i="0" u="none" dirty="0" err="1">
                  <a:solidFill>
                    <a:srgbClr val="CBD5E1"/>
                  </a:solidFill>
                  <a:latin typeface="Plus Jakarta Sans"/>
                </a:rPr>
                <a:t>Resende</a:t>
              </a: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 da Silva </a:t>
              </a:r>
              <a:endParaRPr lang="pt-BR" sz="1200" b="0" i="0" u="none" dirty="0">
                <a:solidFill>
                  <a:srgbClr val="CBD5E1"/>
                </a:solidFill>
                <a:latin typeface="Plus Jakarta Sans"/>
              </a:endParaRPr>
            </a:p>
            <a:p>
              <a:pPr algn="l">
                <a:lnSpc>
                  <a:spcPts val="1439"/>
                </a:lnSpc>
              </a:pP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• Pablo Ferreira de Lira </a:t>
              </a:r>
              <a:endParaRPr lang="pt-BR" sz="1200" b="0" i="0" u="none" dirty="0">
                <a:solidFill>
                  <a:srgbClr val="CBD5E1"/>
                </a:solidFill>
                <a:latin typeface="Plus Jakarta Sans"/>
              </a:endParaRPr>
            </a:p>
            <a:p>
              <a:pPr algn="l">
                <a:lnSpc>
                  <a:spcPts val="1439"/>
                </a:lnSpc>
              </a:pP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• Pedro Ricardo Lopes Bernardo </a:t>
              </a:r>
              <a:endParaRPr lang="pt-BR" sz="1200" b="0" i="0" u="none" dirty="0">
                <a:solidFill>
                  <a:srgbClr val="CBD5E1"/>
                </a:solidFill>
                <a:latin typeface="Plus Jakarta Sans"/>
              </a:endParaRPr>
            </a:p>
            <a:p>
              <a:pPr algn="l">
                <a:lnSpc>
                  <a:spcPts val="1439"/>
                </a:lnSpc>
              </a:pP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• Victor Araújo </a:t>
              </a:r>
              <a:r>
                <a:rPr sz="1200" b="0" i="0" u="none" dirty="0" err="1">
                  <a:solidFill>
                    <a:srgbClr val="CBD5E1"/>
                  </a:solidFill>
                  <a:latin typeface="Plus Jakarta Sans"/>
                </a:rPr>
                <a:t>Biffe</a:t>
              </a: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 </a:t>
              </a:r>
              <a:endParaRPr lang="pt-BR" sz="1200" b="0" i="0" u="none" dirty="0">
                <a:solidFill>
                  <a:srgbClr val="CBD5E1"/>
                </a:solidFill>
                <a:latin typeface="Plus Jakarta Sans"/>
              </a:endParaRPr>
            </a:p>
            <a:p>
              <a:pPr algn="l">
                <a:lnSpc>
                  <a:spcPts val="1439"/>
                </a:lnSpc>
              </a:pPr>
              <a:r>
                <a:rPr sz="1200" b="0" i="0" u="none" dirty="0">
                  <a:solidFill>
                    <a:srgbClr val="CBD5E1"/>
                  </a:solidFill>
                  <a:latin typeface="Plus Jakarta Sans"/>
                </a:rPr>
                <a:t>• Vinicius Gonçalves de </a:t>
              </a:r>
              <a:r>
                <a:rPr sz="1200" b="0" i="0" u="none" dirty="0" err="1">
                  <a:solidFill>
                    <a:srgbClr val="CBD5E1"/>
                  </a:solidFill>
                  <a:latin typeface="Plus Jakarta Sans"/>
                </a:rPr>
                <a:t>Magalhães</a:t>
              </a:r>
              <a:endParaRPr sz="1200" b="0" i="0" u="none" dirty="0">
                <a:solidFill>
                  <a:srgbClr val="CBD5E1"/>
                </a:solidFill>
                <a:latin typeface="Plus Jakarta Sans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990600" y="576262"/>
            <a:ext cx="199279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UNICID – CAMPUS TATUAPÉ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57095118-B84C-4B7D-A5C6-C9F9BBB15217}"/>
              </a:ext>
            </a:extLst>
          </p:cNvPr>
          <p:cNvGrpSpPr/>
          <p:nvPr/>
        </p:nvGrpSpPr>
        <p:grpSpPr>
          <a:xfrm>
            <a:off x="609600" y="2234135"/>
            <a:ext cx="4333875" cy="762000"/>
            <a:chOff x="609600" y="3511004"/>
            <a:chExt cx="4333875" cy="762000"/>
          </a:xfrm>
        </p:grpSpPr>
        <p:sp>
          <p:nvSpPr>
            <p:cNvPr id="3" name="Rounded Rectangle 2"/>
            <p:cNvSpPr/>
            <p:nvPr/>
          </p:nvSpPr>
          <p:spPr>
            <a:xfrm>
              <a:off x="609600" y="3511004"/>
              <a:ext cx="4095750" cy="762000"/>
            </a:xfrm>
            <a:prstGeom prst="roundRect">
              <a:avLst>
                <a:gd name="adj" fmla="val 15000"/>
              </a:avLst>
            </a:prstGeom>
            <a:solidFill>
              <a:srgbClr val="232B3D"/>
            </a:solidFill>
            <a:ln w="9525">
              <a:solidFill>
                <a:srgbClr val="2E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47725" y="3711029"/>
              <a:ext cx="409575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 i="0" u="none" dirty="0">
                  <a:solidFill>
                    <a:schemeClr val="bg1"/>
                  </a:solidFill>
                  <a:latin typeface="Plus Jakarta Sans"/>
                </a:rPr>
                <a:t>DISCIPLINA:</a:t>
              </a:r>
              <a:r>
                <a:rPr sz="1200" b="0" i="0" u="none" dirty="0">
                  <a:solidFill>
                    <a:schemeClr val="bg1"/>
                  </a:solidFill>
                  <a:latin typeface="Plus Jakarta Sans"/>
                </a:rPr>
                <a:t> </a:t>
              </a:r>
              <a:r>
                <a:rPr sz="1200" b="0" i="0" u="none" dirty="0" err="1">
                  <a:solidFill>
                    <a:schemeClr val="bg1"/>
                  </a:solidFill>
                  <a:latin typeface="Plus Jakarta Sans"/>
                </a:rPr>
                <a:t>Modelagem</a:t>
              </a:r>
              <a:r>
                <a:rPr sz="1200" b="0" i="0" u="none" dirty="0">
                  <a:solidFill>
                    <a:schemeClr val="bg1"/>
                  </a:solidFill>
                  <a:latin typeface="Plus Jakarta Sans"/>
                </a:rPr>
                <a:t> de Dados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7725" y="3920579"/>
              <a:ext cx="2750240" cy="33470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200" b="1" i="0" u="none" dirty="0">
                  <a:solidFill>
                    <a:schemeClr val="bg1"/>
                  </a:solidFill>
                  <a:latin typeface="Plus Jakarta Sans"/>
                </a:rPr>
                <a:t>PROFESSOR</a:t>
              </a:r>
              <a:r>
                <a:rPr sz="975" b="1" i="0" u="none" dirty="0">
                  <a:solidFill>
                    <a:srgbClr val="94A3B8"/>
                  </a:solidFill>
                  <a:latin typeface="Plus Jakarta Sans"/>
                </a:rPr>
                <a:t>:</a:t>
              </a:r>
              <a:r>
                <a:rPr lang="pt-BR" sz="975" b="1" i="0" u="none" dirty="0">
                  <a:solidFill>
                    <a:srgbClr val="94A3B8"/>
                  </a:solidFill>
                  <a:latin typeface="Plus Jakarta Sans"/>
                </a:rPr>
                <a:t> </a:t>
              </a:r>
              <a:r>
                <a:rPr lang="pt-BR" sz="1200" i="0" u="none" dirty="0">
                  <a:solidFill>
                    <a:schemeClr val="bg1"/>
                  </a:solidFill>
                  <a:latin typeface="Plus Jakarta Sans"/>
                </a:rPr>
                <a:t>Clovis Jose Ramos </a:t>
              </a:r>
              <a:r>
                <a:rPr lang="pt-BR" sz="1200" i="0" u="none" dirty="0" err="1">
                  <a:solidFill>
                    <a:schemeClr val="bg1"/>
                  </a:solidFill>
                  <a:latin typeface="Plus Jakarta Sans"/>
                </a:rPr>
                <a:t>Ferraro</a:t>
              </a:r>
              <a:endParaRPr lang="pt-BR" sz="1200" i="0" u="none" dirty="0">
                <a:solidFill>
                  <a:schemeClr val="bg1"/>
                </a:solidFill>
                <a:latin typeface="Plus Jakarta Sans"/>
              </a:endParaRPr>
            </a:p>
            <a:p>
              <a:pPr algn="l"/>
              <a:endParaRPr sz="975" b="1" i="0" u="none" dirty="0">
                <a:solidFill>
                  <a:srgbClr val="94A3B8"/>
                </a:solidFill>
                <a:latin typeface="Plus Jakarta Sans"/>
              </a:endParaRP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613D270D-00F7-4921-9D58-BB166C3E2C50}"/>
              </a:ext>
            </a:extLst>
          </p:cNvPr>
          <p:cNvGrpSpPr/>
          <p:nvPr/>
        </p:nvGrpSpPr>
        <p:grpSpPr>
          <a:xfrm>
            <a:off x="6579269" y="1066800"/>
            <a:ext cx="5003131" cy="4704523"/>
            <a:chOff x="6968971" y="1648214"/>
            <a:chExt cx="4509856" cy="4424111"/>
          </a:xfrm>
        </p:grpSpPr>
        <p:sp>
          <p:nvSpPr>
            <p:cNvPr id="24" name="Rounded Rectangle 2">
              <a:extLst>
                <a:ext uri="{FF2B5EF4-FFF2-40B4-BE49-F238E27FC236}">
                  <a16:creationId xmlns:a16="http://schemas.microsoft.com/office/drawing/2014/main" id="{12E311A3-87CC-4B39-8157-904631B9CB6C}"/>
                </a:ext>
              </a:extLst>
            </p:cNvPr>
            <p:cNvSpPr/>
            <p:nvPr/>
          </p:nvSpPr>
          <p:spPr>
            <a:xfrm>
              <a:off x="6968971" y="1648214"/>
              <a:ext cx="4509856" cy="4424111"/>
            </a:xfrm>
            <a:prstGeom prst="roundRect">
              <a:avLst>
                <a:gd name="adj" fmla="val 15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51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836A6C99-02F8-447C-8470-B18D785308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98" t="12757" r="4126" b="6717"/>
            <a:stretch/>
          </p:blipFill>
          <p:spPr>
            <a:xfrm>
              <a:off x="7160656" y="2158305"/>
              <a:ext cx="4028832" cy="34694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940028"/>
            <a:ext cx="11277600" cy="53697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940028"/>
            <a:ext cx="38100" cy="53697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9600" y="6035278"/>
            <a:ext cx="110680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pt-BR" sz="975" b="1" i="0" u="none" dirty="0">
                <a:solidFill>
                  <a:srgbClr val="1E293B"/>
                </a:solidFill>
                <a:latin typeface="Plus Jakarta Sans"/>
              </a:rPr>
              <a:t>Observação </a:t>
            </a:r>
            <a:r>
              <a:rPr sz="975" b="1" i="0" u="none" dirty="0">
                <a:solidFill>
                  <a:srgbClr val="1E293B"/>
                </a:solidFill>
                <a:latin typeface="Plus Jakarta Sans"/>
              </a:rPr>
              <a:t>: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"A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SpaceAdmin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atua no mercado </a:t>
            </a:r>
            <a:r>
              <a:rPr lang="pt-BR" sz="975" b="0" i="0" u="none" dirty="0">
                <a:solidFill>
                  <a:srgbClr val="475569"/>
                </a:solidFill>
                <a:latin typeface="Plus Jakarta Sans"/>
              </a:rPr>
              <a:t>imobiliário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flexível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.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Identificamos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que o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uso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planilhas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causava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overbooking,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falhas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na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limpeza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e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atrasos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financeiros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. O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cruzamento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manual de dados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tornava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a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gestão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inviável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5586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DIAGNÓSTICO OPERACIONAL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4284"/>
            <a:ext cx="3923703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A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Empresa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pt-BR" sz="2100" b="1" i="0" u="none" dirty="0">
                <a:solidFill>
                  <a:srgbClr val="0F172A"/>
                </a:solidFill>
                <a:latin typeface="Plus Jakarta Sans"/>
              </a:rPr>
              <a:t>e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Gargalos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Identificados</a:t>
            </a:r>
            <a:endParaRPr sz="2100" b="1" i="0" u="none" dirty="0">
              <a:solidFill>
                <a:srgbClr val="0F172A"/>
              </a:solidFill>
              <a:latin typeface="Plus Jakarta Sans"/>
            </a:endParaRPr>
          </a:p>
        </p:txBody>
      </p: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6A53CDCB-6E39-4DCD-BC3D-2E7ADB413E70}"/>
              </a:ext>
            </a:extLst>
          </p:cNvPr>
          <p:cNvGrpSpPr/>
          <p:nvPr/>
        </p:nvGrpSpPr>
        <p:grpSpPr>
          <a:xfrm>
            <a:off x="457200" y="5436038"/>
            <a:ext cx="11277600" cy="361950"/>
            <a:chOff x="457200" y="5578078"/>
            <a:chExt cx="11277600" cy="361950"/>
          </a:xfrm>
        </p:grpSpPr>
        <p:sp>
          <p:nvSpPr>
            <p:cNvPr id="5" name="Rounded Rectangle 4"/>
            <p:cNvSpPr/>
            <p:nvPr/>
          </p:nvSpPr>
          <p:spPr>
            <a:xfrm>
              <a:off x="457200" y="5578078"/>
              <a:ext cx="11277600" cy="361950"/>
            </a:xfrm>
            <a:prstGeom prst="roundRect">
              <a:avLst>
                <a:gd name="adj" fmla="val 21052"/>
              </a:avLst>
            </a:prstGeom>
            <a:solidFill>
              <a:srgbClr val="FEF2F2"/>
            </a:solidFill>
            <a:ln w="9525">
              <a:solidFill>
                <a:srgbClr val="FECAC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125" y="5697140"/>
              <a:ext cx="123825" cy="123825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838200" y="5682853"/>
              <a:ext cx="8001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dirty="0" err="1">
                  <a:solidFill>
                    <a:srgbClr val="991B1B"/>
                  </a:solidFill>
                  <a:latin typeface="Plus Jakarta Sans"/>
                </a:rPr>
                <a:t>Gargalo</a:t>
              </a:r>
              <a:r>
                <a:rPr sz="975" b="1" i="0" u="none" dirty="0">
                  <a:solidFill>
                    <a:srgbClr val="991B1B"/>
                  </a:solidFill>
                  <a:latin typeface="Plus Jakarta Sans"/>
                </a:rPr>
                <a:t> </a:t>
              </a:r>
              <a:r>
                <a:rPr sz="975" b="1" i="0" u="none" dirty="0" err="1">
                  <a:solidFill>
                    <a:srgbClr val="991B1B"/>
                  </a:solidFill>
                  <a:latin typeface="Plus Jakarta Sans"/>
                </a:rPr>
                <a:t>Crítico</a:t>
              </a:r>
              <a:r>
                <a:rPr sz="975" b="1" i="0" u="none" dirty="0">
                  <a:solidFill>
                    <a:srgbClr val="991B1B"/>
                  </a:solidFill>
                  <a:latin typeface="Plus Jakarta Sans"/>
                </a:rPr>
                <a:t>: O </a:t>
              </a:r>
              <a:r>
                <a:rPr sz="975" b="1" i="0" u="none" dirty="0" err="1">
                  <a:solidFill>
                    <a:srgbClr val="991B1B"/>
                  </a:solidFill>
                  <a:latin typeface="Plus Jakarta Sans"/>
                </a:rPr>
                <a:t>cruzamento</a:t>
              </a:r>
              <a:r>
                <a:rPr sz="975" b="1" i="0" u="none" dirty="0">
                  <a:solidFill>
                    <a:srgbClr val="991B1B"/>
                  </a:solidFill>
                  <a:latin typeface="Plus Jakarta Sans"/>
                </a:rPr>
                <a:t> manual de dados </a:t>
              </a:r>
              <a:r>
                <a:rPr sz="975" b="1" i="0" u="none" dirty="0" err="1">
                  <a:solidFill>
                    <a:srgbClr val="991B1B"/>
                  </a:solidFill>
                  <a:latin typeface="Plus Jakarta Sans"/>
                </a:rPr>
                <a:t>atrasava</a:t>
              </a:r>
              <a:r>
                <a:rPr sz="975" b="1" i="0" u="none" dirty="0">
                  <a:solidFill>
                    <a:srgbClr val="991B1B"/>
                  </a:solidFill>
                  <a:latin typeface="Plus Jakarta Sans"/>
                </a:rPr>
                <a:t> a </a:t>
              </a:r>
              <a:r>
                <a:rPr sz="975" b="1" i="0" u="none" dirty="0" err="1">
                  <a:solidFill>
                    <a:srgbClr val="991B1B"/>
                  </a:solidFill>
                  <a:latin typeface="Plus Jakarta Sans"/>
                </a:rPr>
                <a:t>emissão</a:t>
              </a:r>
              <a:r>
                <a:rPr sz="975" b="1" i="0" u="none" dirty="0">
                  <a:solidFill>
                    <a:srgbClr val="991B1B"/>
                  </a:solidFill>
                  <a:latin typeface="Plus Jakarta Sans"/>
                </a:rPr>
                <a:t> de </a:t>
              </a:r>
              <a:r>
                <a:rPr sz="975" b="1" i="0" u="none" dirty="0" err="1">
                  <a:solidFill>
                    <a:srgbClr val="991B1B"/>
                  </a:solidFill>
                  <a:latin typeface="Plus Jakarta Sans"/>
                </a:rPr>
                <a:t>relatórios</a:t>
              </a:r>
              <a:r>
                <a:rPr sz="975" b="1" i="0" u="none" dirty="0">
                  <a:solidFill>
                    <a:srgbClr val="991B1B"/>
                  </a:solidFill>
                  <a:latin typeface="Plus Jakarta Sans"/>
                </a:rPr>
                <a:t> </a:t>
              </a:r>
              <a:r>
                <a:rPr sz="975" b="1" i="0" u="none" dirty="0" err="1">
                  <a:solidFill>
                    <a:srgbClr val="991B1B"/>
                  </a:solidFill>
                  <a:latin typeface="Plus Jakarta Sans"/>
                </a:rPr>
                <a:t>gerenciais</a:t>
              </a:r>
              <a:r>
                <a:rPr sz="975" b="1" i="0" u="none" dirty="0">
                  <a:solidFill>
                    <a:srgbClr val="991B1B"/>
                  </a:solidFill>
                  <a:latin typeface="Plus Jakarta Sans"/>
                </a:rPr>
                <a:t> </a:t>
              </a:r>
              <a:r>
                <a:rPr sz="975" b="1" i="0" u="none" dirty="0" err="1">
                  <a:solidFill>
                    <a:srgbClr val="991B1B"/>
                  </a:solidFill>
                  <a:latin typeface="Plus Jakarta Sans"/>
                </a:rPr>
                <a:t>em</a:t>
              </a:r>
              <a:r>
                <a:rPr sz="975" b="1" i="0" u="none" dirty="0">
                  <a:solidFill>
                    <a:srgbClr val="991B1B"/>
                  </a:solidFill>
                  <a:latin typeface="Plus Jakarta Sans"/>
                </a:rPr>
                <a:t> </a:t>
              </a:r>
              <a:r>
                <a:rPr sz="975" b="1" i="0" u="none" dirty="0" err="1">
                  <a:solidFill>
                    <a:srgbClr val="991B1B"/>
                  </a:solidFill>
                  <a:latin typeface="Plus Jakarta Sans"/>
                </a:rPr>
                <a:t>vários</a:t>
              </a:r>
              <a:r>
                <a:rPr sz="975" b="1" i="0" u="none" dirty="0">
                  <a:solidFill>
                    <a:srgbClr val="991B1B"/>
                  </a:solidFill>
                  <a:latin typeface="Plus Jakarta Sans"/>
                </a:rPr>
                <a:t> </a:t>
              </a:r>
              <a:r>
                <a:rPr sz="975" b="1" i="0" u="none" dirty="0" err="1">
                  <a:solidFill>
                    <a:srgbClr val="991B1B"/>
                  </a:solidFill>
                  <a:latin typeface="Plus Jakarta Sans"/>
                </a:rPr>
                <a:t>dias</a:t>
              </a:r>
              <a:r>
                <a:rPr sz="975" b="1" i="0" u="none" dirty="0">
                  <a:solidFill>
                    <a:srgbClr val="991B1B"/>
                  </a:solidFill>
                  <a:latin typeface="Plus Jakarta Sans"/>
                </a:rPr>
                <a:t>.</a:t>
              </a:r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34BCEE5F-4ACD-4DEE-93F5-213B8AB413FD}"/>
              </a:ext>
            </a:extLst>
          </p:cNvPr>
          <p:cNvGrpSpPr/>
          <p:nvPr/>
        </p:nvGrpSpPr>
        <p:grpSpPr>
          <a:xfrm>
            <a:off x="440584" y="2035038"/>
            <a:ext cx="11316667" cy="3162848"/>
            <a:chOff x="440584" y="996339"/>
            <a:chExt cx="11316667" cy="3162848"/>
          </a:xfrm>
        </p:grpSpPr>
        <p:grpSp>
          <p:nvGrpSpPr>
            <p:cNvPr id="94" name="Agrupar 93">
              <a:extLst>
                <a:ext uri="{FF2B5EF4-FFF2-40B4-BE49-F238E27FC236}">
                  <a16:creationId xmlns:a16="http://schemas.microsoft.com/office/drawing/2014/main" id="{F556E8F4-9151-47FA-9EB8-C031D4788010}"/>
                </a:ext>
              </a:extLst>
            </p:cNvPr>
            <p:cNvGrpSpPr/>
            <p:nvPr/>
          </p:nvGrpSpPr>
          <p:grpSpPr>
            <a:xfrm>
              <a:off x="440584" y="996339"/>
              <a:ext cx="11316667" cy="3162848"/>
              <a:chOff x="440584" y="996339"/>
              <a:chExt cx="11316667" cy="3162848"/>
            </a:xfrm>
          </p:grpSpPr>
          <p:grpSp>
            <p:nvGrpSpPr>
              <p:cNvPr id="93" name="Agrupar 92">
                <a:extLst>
                  <a:ext uri="{FF2B5EF4-FFF2-40B4-BE49-F238E27FC236}">
                    <a16:creationId xmlns:a16="http://schemas.microsoft.com/office/drawing/2014/main" id="{EF462F88-6FA5-4DED-B976-2BF0B21BA223}"/>
                  </a:ext>
                </a:extLst>
              </p:cNvPr>
              <p:cNvGrpSpPr/>
              <p:nvPr/>
            </p:nvGrpSpPr>
            <p:grpSpPr>
              <a:xfrm>
                <a:off x="451821" y="1409753"/>
                <a:ext cx="5615384" cy="2747169"/>
                <a:chOff x="451821" y="1409753"/>
                <a:chExt cx="5615384" cy="2747169"/>
              </a:xfrm>
            </p:grpSpPr>
            <p:grpSp>
              <p:nvGrpSpPr>
                <p:cNvPr id="46" name="Agrupar 45">
                  <a:extLst>
                    <a:ext uri="{FF2B5EF4-FFF2-40B4-BE49-F238E27FC236}">
                      <a16:creationId xmlns:a16="http://schemas.microsoft.com/office/drawing/2014/main" id="{38A806C4-288E-4797-957C-AD85958AE513}"/>
                    </a:ext>
                  </a:extLst>
                </p:cNvPr>
                <p:cNvGrpSpPr/>
                <p:nvPr/>
              </p:nvGrpSpPr>
              <p:grpSpPr>
                <a:xfrm>
                  <a:off x="451821" y="1409753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40" name="Retângulo: Cantos Arredondados 39">
                    <a:extLst>
                      <a:ext uri="{FF2B5EF4-FFF2-40B4-BE49-F238E27FC236}">
                        <a16:creationId xmlns:a16="http://schemas.microsoft.com/office/drawing/2014/main" id="{968D8F0E-ED75-4DEE-85C6-679299EEE6BA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A8323D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41" name="Retângulo: Cantos Arredondados 40">
                    <a:extLst>
                      <a:ext uri="{FF2B5EF4-FFF2-40B4-BE49-F238E27FC236}">
                        <a16:creationId xmlns:a16="http://schemas.microsoft.com/office/drawing/2014/main" id="{61EF1AED-EC0B-44FD-A1A8-A07BE0AB4FDE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42" name="Retângulo: Cantos Arredondados 41">
                    <a:extLst>
                      <a:ext uri="{FF2B5EF4-FFF2-40B4-BE49-F238E27FC236}">
                        <a16:creationId xmlns:a16="http://schemas.microsoft.com/office/drawing/2014/main" id="{94693602-7405-4F8B-9473-4C20CA89DCFD}"/>
                      </a:ext>
                    </a:extLst>
                  </p:cNvPr>
                  <p:cNvSpPr/>
                  <p:nvPr/>
                </p:nvSpPr>
                <p:spPr>
                  <a:xfrm>
                    <a:off x="733425" y="2231431"/>
                    <a:ext cx="760362" cy="222149"/>
                  </a:xfrm>
                  <a:prstGeom prst="roundRect">
                    <a:avLst/>
                  </a:prstGeom>
                  <a:solidFill>
                    <a:srgbClr val="641B25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Agenda</a:t>
                    </a:r>
                    <a:endParaRPr lang="pt-BR" sz="1050" dirty="0">
                      <a:latin typeface="Plus Jakarta Sans"/>
                    </a:endParaRPr>
                  </a:p>
                </p:txBody>
              </p:sp>
              <p:sp>
                <p:nvSpPr>
                  <p:cNvPr id="43" name="CaixaDeTexto 42">
                    <a:extLst>
                      <a:ext uri="{FF2B5EF4-FFF2-40B4-BE49-F238E27FC236}">
                        <a16:creationId xmlns:a16="http://schemas.microsoft.com/office/drawing/2014/main" id="{1C5EED25-DEFA-4257-A748-A05649E991FA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0" y="2530136"/>
                    <a:ext cx="1535552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Agendamentos em Planilha</a:t>
                    </a:r>
                    <a:endParaRPr lang="pt-BR" sz="900" dirty="0">
                      <a:latin typeface="Plus Jakarta Sans"/>
                    </a:endParaRPr>
                  </a:p>
                </p:txBody>
              </p:sp>
              <p:sp>
                <p:nvSpPr>
                  <p:cNvPr id="44" name="Rounded Rectangle 3">
                    <a:extLst>
                      <a:ext uri="{FF2B5EF4-FFF2-40B4-BE49-F238E27FC236}">
                        <a16:creationId xmlns:a16="http://schemas.microsoft.com/office/drawing/2014/main" id="{7D0E8518-CB66-43E2-A4C7-35894EEB518E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852B35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5" name="Rounded Rectangle 3">
                    <a:extLst>
                      <a:ext uri="{FF2B5EF4-FFF2-40B4-BE49-F238E27FC236}">
                        <a16:creationId xmlns:a16="http://schemas.microsoft.com/office/drawing/2014/main" id="{58E43B02-BB77-4644-ACC9-D946E93D1DCA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i="0" dirty="0">
                        <a:solidFill>
                          <a:srgbClr val="1E293B"/>
                        </a:solidFill>
                        <a:effectLst/>
                        <a:latin typeface="Plus Jakarta Sans"/>
                      </a:rPr>
                      <a:t>Overbooking e choque de horários.</a:t>
                    </a:r>
                    <a:endParaRPr sz="900" dirty="0">
                      <a:latin typeface="Plus Jakarta Sans"/>
                    </a:endParaRPr>
                  </a:p>
                </p:txBody>
              </p:sp>
            </p:grpSp>
            <p:grpSp>
              <p:nvGrpSpPr>
                <p:cNvPr id="47" name="Agrupar 46">
                  <a:extLst>
                    <a:ext uri="{FF2B5EF4-FFF2-40B4-BE49-F238E27FC236}">
                      <a16:creationId xmlns:a16="http://schemas.microsoft.com/office/drawing/2014/main" id="{0A65E755-B861-4D04-8086-B712C4BCAE52}"/>
                    </a:ext>
                  </a:extLst>
                </p:cNvPr>
                <p:cNvGrpSpPr/>
                <p:nvPr/>
              </p:nvGrpSpPr>
              <p:grpSpPr>
                <a:xfrm>
                  <a:off x="2334965" y="1409753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48" name="Retângulo: Cantos Arredondados 47">
                    <a:extLst>
                      <a:ext uri="{FF2B5EF4-FFF2-40B4-BE49-F238E27FC236}">
                        <a16:creationId xmlns:a16="http://schemas.microsoft.com/office/drawing/2014/main" id="{CC1717B4-4BDA-4F14-B4A4-F766BBE0D45D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C43D48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49" name="Retângulo: Cantos Arredondados 48">
                    <a:extLst>
                      <a:ext uri="{FF2B5EF4-FFF2-40B4-BE49-F238E27FC236}">
                        <a16:creationId xmlns:a16="http://schemas.microsoft.com/office/drawing/2014/main" id="{82189B89-F013-4177-A1D0-908FA7705D44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50" name="Retângulo: Cantos Arredondados 49">
                    <a:extLst>
                      <a:ext uri="{FF2B5EF4-FFF2-40B4-BE49-F238E27FC236}">
                        <a16:creationId xmlns:a16="http://schemas.microsoft.com/office/drawing/2014/main" id="{E24DFC8A-6CE8-4234-AC7F-CD89548897BE}"/>
                      </a:ext>
                    </a:extLst>
                  </p:cNvPr>
                  <p:cNvSpPr/>
                  <p:nvPr/>
                </p:nvSpPr>
                <p:spPr>
                  <a:xfrm>
                    <a:off x="733425" y="2231431"/>
                    <a:ext cx="760362" cy="222149"/>
                  </a:xfrm>
                  <a:prstGeom prst="roundRect">
                    <a:avLst/>
                  </a:prstGeom>
                  <a:solidFill>
                    <a:srgbClr val="641B25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Operação</a:t>
                    </a:r>
                  </a:p>
                </p:txBody>
              </p:sp>
              <p:sp>
                <p:nvSpPr>
                  <p:cNvPr id="51" name="CaixaDeTexto 50">
                    <a:extLst>
                      <a:ext uri="{FF2B5EF4-FFF2-40B4-BE49-F238E27FC236}">
                        <a16:creationId xmlns:a16="http://schemas.microsoft.com/office/drawing/2014/main" id="{65DEDCD2-419D-4005-88E4-F11806197D8D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0" y="2530136"/>
                    <a:ext cx="1535552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 err="1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Check-out</a:t>
                    </a:r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 Manual sem Sinal</a:t>
                    </a:r>
                    <a:endParaRPr lang="pt-BR" sz="900" dirty="0">
                      <a:latin typeface="Plus Jakarta Sans"/>
                    </a:endParaRPr>
                  </a:p>
                </p:txBody>
              </p:sp>
              <p:sp>
                <p:nvSpPr>
                  <p:cNvPr id="52" name="Rounded Rectangle 3">
                    <a:extLst>
                      <a:ext uri="{FF2B5EF4-FFF2-40B4-BE49-F238E27FC236}">
                        <a16:creationId xmlns:a16="http://schemas.microsoft.com/office/drawing/2014/main" id="{74305817-89CD-4135-96B6-B54D02F41A18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852B35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" name="Rounded Rectangle 3">
                    <a:extLst>
                      <a:ext uri="{FF2B5EF4-FFF2-40B4-BE49-F238E27FC236}">
                        <a16:creationId xmlns:a16="http://schemas.microsoft.com/office/drawing/2014/main" id="{384521B2-26F4-49F1-9A3B-DC89098C814B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i="0" dirty="0">
                        <a:solidFill>
                          <a:srgbClr val="1E293B"/>
                        </a:solidFill>
                        <a:effectLst/>
                        <a:latin typeface="Plus Jakarta Sans"/>
                      </a:rPr>
                      <a:t>Sala parada sem aviso à limpeza.</a:t>
                    </a:r>
                    <a:endParaRPr sz="900" dirty="0">
                      <a:latin typeface="Plus Jakarta Sans"/>
                    </a:endParaRPr>
                  </a:p>
                </p:txBody>
              </p:sp>
            </p:grpSp>
            <p:grpSp>
              <p:nvGrpSpPr>
                <p:cNvPr id="61" name="Agrupar 60">
                  <a:extLst>
                    <a:ext uri="{FF2B5EF4-FFF2-40B4-BE49-F238E27FC236}">
                      <a16:creationId xmlns:a16="http://schemas.microsoft.com/office/drawing/2014/main" id="{B78A84D5-8014-44BD-B0AB-FFD8D7D75273}"/>
                    </a:ext>
                  </a:extLst>
                </p:cNvPr>
                <p:cNvGrpSpPr/>
                <p:nvPr/>
              </p:nvGrpSpPr>
              <p:grpSpPr>
                <a:xfrm>
                  <a:off x="4218109" y="1409753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62" name="Retângulo: Cantos Arredondados 61">
                    <a:extLst>
                      <a:ext uri="{FF2B5EF4-FFF2-40B4-BE49-F238E27FC236}">
                        <a16:creationId xmlns:a16="http://schemas.microsoft.com/office/drawing/2014/main" id="{FBFAA3B1-58AA-4D7A-8383-76AE1121C239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D95760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63" name="Retângulo: Cantos Arredondados 62">
                    <a:extLst>
                      <a:ext uri="{FF2B5EF4-FFF2-40B4-BE49-F238E27FC236}">
                        <a16:creationId xmlns:a16="http://schemas.microsoft.com/office/drawing/2014/main" id="{D9A8552E-188F-4450-BC48-40DE57C87B86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64" name="Retângulo: Cantos Arredondados 63">
                    <a:extLst>
                      <a:ext uri="{FF2B5EF4-FFF2-40B4-BE49-F238E27FC236}">
                        <a16:creationId xmlns:a16="http://schemas.microsoft.com/office/drawing/2014/main" id="{3DFD2E96-87B1-4708-94B3-27EC5FCEED27}"/>
                      </a:ext>
                    </a:extLst>
                  </p:cNvPr>
                  <p:cNvSpPr/>
                  <p:nvPr/>
                </p:nvSpPr>
                <p:spPr>
                  <a:xfrm>
                    <a:off x="733424" y="2231431"/>
                    <a:ext cx="948921" cy="222149"/>
                  </a:xfrm>
                  <a:prstGeom prst="roundRect">
                    <a:avLst/>
                  </a:prstGeom>
                  <a:solidFill>
                    <a:srgbClr val="641B25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Suprimentos</a:t>
                    </a:r>
                    <a:endParaRPr lang="pt-BR" sz="1050" dirty="0">
                      <a:latin typeface="Plus Jakarta Sans"/>
                    </a:endParaRPr>
                  </a:p>
                </p:txBody>
              </p:sp>
              <p:sp>
                <p:nvSpPr>
                  <p:cNvPr id="65" name="CaixaDeTexto 64">
                    <a:extLst>
                      <a:ext uri="{FF2B5EF4-FFF2-40B4-BE49-F238E27FC236}">
                        <a16:creationId xmlns:a16="http://schemas.microsoft.com/office/drawing/2014/main" id="{0848A446-7BFA-4976-98D2-7765648377FF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0" y="2530136"/>
                    <a:ext cx="1535552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Estoque em Papel</a:t>
                    </a:r>
                  </a:p>
                </p:txBody>
              </p:sp>
              <p:sp>
                <p:nvSpPr>
                  <p:cNvPr id="66" name="Rounded Rectangle 3">
                    <a:extLst>
                      <a:ext uri="{FF2B5EF4-FFF2-40B4-BE49-F238E27FC236}">
                        <a16:creationId xmlns:a16="http://schemas.microsoft.com/office/drawing/2014/main" id="{304E76D4-1C21-4C76-83B1-ECD6F0B66D23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852B35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" name="Rounded Rectangle 3">
                    <a:extLst>
                      <a:ext uri="{FF2B5EF4-FFF2-40B4-BE49-F238E27FC236}">
                        <a16:creationId xmlns:a16="http://schemas.microsoft.com/office/drawing/2014/main" id="{67B5CD39-051F-4C53-AE25-9A629754EF59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i="0" dirty="0">
                        <a:solidFill>
                          <a:srgbClr val="1E293B"/>
                        </a:solidFill>
                        <a:effectLst/>
                        <a:latin typeface="Plus Jakarta Sans"/>
                      </a:rPr>
                      <a:t>Compras emergenciais e mais caras.</a:t>
                    </a:r>
                    <a:endParaRPr sz="900" dirty="0">
                      <a:latin typeface="Plus Jakarta Sans"/>
                    </a:endParaRPr>
                  </a:p>
                </p:txBody>
              </p:sp>
            </p:grpSp>
            <p:grpSp>
              <p:nvGrpSpPr>
                <p:cNvPr id="68" name="Agrupar 67">
                  <a:extLst>
                    <a:ext uri="{FF2B5EF4-FFF2-40B4-BE49-F238E27FC236}">
                      <a16:creationId xmlns:a16="http://schemas.microsoft.com/office/drawing/2014/main" id="{480C3DDC-ADAB-47BC-9F72-68258F3C5830}"/>
                    </a:ext>
                  </a:extLst>
                </p:cNvPr>
                <p:cNvGrpSpPr/>
                <p:nvPr/>
              </p:nvGrpSpPr>
              <p:grpSpPr>
                <a:xfrm>
                  <a:off x="451821" y="2793546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69" name="Retângulo: Cantos Arredondados 68">
                    <a:extLst>
                      <a:ext uri="{FF2B5EF4-FFF2-40B4-BE49-F238E27FC236}">
                        <a16:creationId xmlns:a16="http://schemas.microsoft.com/office/drawing/2014/main" id="{BD3F4053-8580-44B8-B94D-E295E0EF4560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E77B80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70" name="Retângulo: Cantos Arredondados 69">
                    <a:extLst>
                      <a:ext uri="{FF2B5EF4-FFF2-40B4-BE49-F238E27FC236}">
                        <a16:creationId xmlns:a16="http://schemas.microsoft.com/office/drawing/2014/main" id="{8526FD24-FF65-4565-8FD1-EC331ED1852D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71" name="Retângulo: Cantos Arredondados 70">
                    <a:extLst>
                      <a:ext uri="{FF2B5EF4-FFF2-40B4-BE49-F238E27FC236}">
                        <a16:creationId xmlns:a16="http://schemas.microsoft.com/office/drawing/2014/main" id="{F73F008C-008F-4B0C-A17F-CB2F16C28976}"/>
                      </a:ext>
                    </a:extLst>
                  </p:cNvPr>
                  <p:cNvSpPr/>
                  <p:nvPr/>
                </p:nvSpPr>
                <p:spPr>
                  <a:xfrm>
                    <a:off x="733424" y="2231431"/>
                    <a:ext cx="948921" cy="222149"/>
                  </a:xfrm>
                  <a:prstGeom prst="roundRect">
                    <a:avLst/>
                  </a:prstGeom>
                  <a:solidFill>
                    <a:srgbClr val="641B25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Manutenção</a:t>
                    </a:r>
                    <a:endParaRPr lang="pt-BR" sz="1050" dirty="0">
                      <a:latin typeface="Plus Jakarta Sans"/>
                    </a:endParaRPr>
                  </a:p>
                </p:txBody>
              </p:sp>
              <p:sp>
                <p:nvSpPr>
                  <p:cNvPr id="72" name="CaixaDeTexto 71">
                    <a:extLst>
                      <a:ext uri="{FF2B5EF4-FFF2-40B4-BE49-F238E27FC236}">
                        <a16:creationId xmlns:a16="http://schemas.microsoft.com/office/drawing/2014/main" id="{970A9D17-3B25-4EAF-886E-E16D2F4F5CF9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0" y="2530136"/>
                    <a:ext cx="1535552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Sem Histórico de Reparos</a:t>
                    </a:r>
                    <a:endParaRPr lang="pt-BR" sz="900" dirty="0">
                      <a:latin typeface="Plus Jakarta Sans"/>
                    </a:endParaRPr>
                  </a:p>
                </p:txBody>
              </p:sp>
              <p:sp>
                <p:nvSpPr>
                  <p:cNvPr id="73" name="Rounded Rectangle 3">
                    <a:extLst>
                      <a:ext uri="{FF2B5EF4-FFF2-40B4-BE49-F238E27FC236}">
                        <a16:creationId xmlns:a16="http://schemas.microsoft.com/office/drawing/2014/main" id="{B71E9D13-0E24-4F5E-A933-AA90DE68F10E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852B35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74" name="Rounded Rectangle 3">
                    <a:extLst>
                      <a:ext uri="{FF2B5EF4-FFF2-40B4-BE49-F238E27FC236}">
                        <a16:creationId xmlns:a16="http://schemas.microsoft.com/office/drawing/2014/main" id="{0CA2C6A7-07EF-4C15-80AE-655567852C8C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i="0" dirty="0">
                        <a:solidFill>
                          <a:srgbClr val="1E293B"/>
                        </a:solidFill>
                        <a:effectLst/>
                        <a:latin typeface="Plus Jakarta Sans"/>
                      </a:rPr>
                      <a:t>Sem rastreabilidade de custo/sala.</a:t>
                    </a:r>
                    <a:endParaRPr sz="900" dirty="0">
                      <a:latin typeface="Plus Jakarta Sans"/>
                    </a:endParaRPr>
                  </a:p>
                </p:txBody>
              </p:sp>
            </p:grpSp>
            <p:grpSp>
              <p:nvGrpSpPr>
                <p:cNvPr id="75" name="Agrupar 74">
                  <a:extLst>
                    <a:ext uri="{FF2B5EF4-FFF2-40B4-BE49-F238E27FC236}">
                      <a16:creationId xmlns:a16="http://schemas.microsoft.com/office/drawing/2014/main" id="{84C965D7-4949-4ABC-83F7-6B784261ED04}"/>
                    </a:ext>
                  </a:extLst>
                </p:cNvPr>
                <p:cNvGrpSpPr/>
                <p:nvPr/>
              </p:nvGrpSpPr>
              <p:grpSpPr>
                <a:xfrm>
                  <a:off x="2325538" y="2792286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76" name="Retângulo: Cantos Arredondados 75">
                    <a:extLst>
                      <a:ext uri="{FF2B5EF4-FFF2-40B4-BE49-F238E27FC236}">
                        <a16:creationId xmlns:a16="http://schemas.microsoft.com/office/drawing/2014/main" id="{174A4C18-9713-4DEA-B03F-F508F69157DC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F09A9D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77" name="Retângulo: Cantos Arredondados 76">
                    <a:extLst>
                      <a:ext uri="{FF2B5EF4-FFF2-40B4-BE49-F238E27FC236}">
                        <a16:creationId xmlns:a16="http://schemas.microsoft.com/office/drawing/2014/main" id="{20E7AC99-B2FC-4C53-A6C6-A8C372294958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78" name="Retângulo: Cantos Arredondados 77">
                    <a:extLst>
                      <a:ext uri="{FF2B5EF4-FFF2-40B4-BE49-F238E27FC236}">
                        <a16:creationId xmlns:a16="http://schemas.microsoft.com/office/drawing/2014/main" id="{4D559CBB-3D08-4421-B5DC-D73356CA29DC}"/>
                      </a:ext>
                    </a:extLst>
                  </p:cNvPr>
                  <p:cNvSpPr/>
                  <p:nvPr/>
                </p:nvSpPr>
                <p:spPr>
                  <a:xfrm>
                    <a:off x="733425" y="2231431"/>
                    <a:ext cx="825096" cy="222149"/>
                  </a:xfrm>
                  <a:prstGeom prst="roundRect">
                    <a:avLst/>
                  </a:prstGeom>
                  <a:solidFill>
                    <a:srgbClr val="641B25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Financeiro</a:t>
                    </a:r>
                    <a:endParaRPr lang="pt-BR" sz="1050" dirty="0">
                      <a:latin typeface="Plus Jakarta Sans"/>
                    </a:endParaRPr>
                  </a:p>
                </p:txBody>
              </p:sp>
              <p:sp>
                <p:nvSpPr>
                  <p:cNvPr id="79" name="CaixaDeTexto 78">
                    <a:extLst>
                      <a:ext uri="{FF2B5EF4-FFF2-40B4-BE49-F238E27FC236}">
                        <a16:creationId xmlns:a16="http://schemas.microsoft.com/office/drawing/2014/main" id="{D047107A-B338-4975-B1DE-A89D259BF624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0" y="2530136"/>
                    <a:ext cx="1535552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Cadastros Desvinculados</a:t>
                    </a:r>
                  </a:p>
                </p:txBody>
              </p:sp>
              <p:sp>
                <p:nvSpPr>
                  <p:cNvPr id="80" name="Rounded Rectangle 3">
                    <a:extLst>
                      <a:ext uri="{FF2B5EF4-FFF2-40B4-BE49-F238E27FC236}">
                        <a16:creationId xmlns:a16="http://schemas.microsoft.com/office/drawing/2014/main" id="{66BA3EC1-1823-4875-A691-E5D2FCD17356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852B35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1" name="Rounded Rectangle 3">
                    <a:extLst>
                      <a:ext uri="{FF2B5EF4-FFF2-40B4-BE49-F238E27FC236}">
                        <a16:creationId xmlns:a16="http://schemas.microsoft.com/office/drawing/2014/main" id="{1097FDD3-F09A-4A51-99AB-BA679EE35C20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i="0" dirty="0">
                        <a:solidFill>
                          <a:srgbClr val="1E293B"/>
                        </a:solidFill>
                        <a:effectLst/>
                        <a:latin typeface="Plus Jakarta Sans"/>
                      </a:rPr>
                      <a:t>Erros de cobrança e repasses.</a:t>
                    </a:r>
                  </a:p>
                </p:txBody>
              </p:sp>
            </p:grpSp>
            <p:grpSp>
              <p:nvGrpSpPr>
                <p:cNvPr id="82" name="Agrupar 81">
                  <a:extLst>
                    <a:ext uri="{FF2B5EF4-FFF2-40B4-BE49-F238E27FC236}">
                      <a16:creationId xmlns:a16="http://schemas.microsoft.com/office/drawing/2014/main" id="{84FE0BBC-4803-403F-A613-A854D2A4218C}"/>
                    </a:ext>
                  </a:extLst>
                </p:cNvPr>
                <p:cNvGrpSpPr/>
                <p:nvPr/>
              </p:nvGrpSpPr>
              <p:grpSpPr>
                <a:xfrm>
                  <a:off x="4200353" y="2793681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83" name="Retângulo: Cantos Arredondados 82">
                    <a:extLst>
                      <a:ext uri="{FF2B5EF4-FFF2-40B4-BE49-F238E27FC236}">
                        <a16:creationId xmlns:a16="http://schemas.microsoft.com/office/drawing/2014/main" id="{3B1C153D-D8E8-490F-BDC2-0F3EF2DF90E7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F7BEC0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84" name="Retângulo: Cantos Arredondados 83">
                    <a:extLst>
                      <a:ext uri="{FF2B5EF4-FFF2-40B4-BE49-F238E27FC236}">
                        <a16:creationId xmlns:a16="http://schemas.microsoft.com/office/drawing/2014/main" id="{6B8E4B40-8684-4ABC-A0FB-66731C2C9834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85" name="Retângulo: Cantos Arredondados 84">
                    <a:extLst>
                      <a:ext uri="{FF2B5EF4-FFF2-40B4-BE49-F238E27FC236}">
                        <a16:creationId xmlns:a16="http://schemas.microsoft.com/office/drawing/2014/main" id="{5C4E428E-0108-48C9-9BBD-130CA3E7050F}"/>
                      </a:ext>
                    </a:extLst>
                  </p:cNvPr>
                  <p:cNvSpPr/>
                  <p:nvPr/>
                </p:nvSpPr>
                <p:spPr>
                  <a:xfrm>
                    <a:off x="733425" y="2231431"/>
                    <a:ext cx="825096" cy="222149"/>
                  </a:xfrm>
                  <a:prstGeom prst="roundRect">
                    <a:avLst/>
                  </a:prstGeom>
                  <a:solidFill>
                    <a:srgbClr val="641B25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Regras</a:t>
                    </a:r>
                    <a:endParaRPr lang="pt-BR" sz="1050" dirty="0">
                      <a:latin typeface="Plus Jakarta Sans"/>
                    </a:endParaRPr>
                  </a:p>
                </p:txBody>
              </p:sp>
              <p:sp>
                <p:nvSpPr>
                  <p:cNvPr id="86" name="CaixaDeTexto 85">
                    <a:extLst>
                      <a:ext uri="{FF2B5EF4-FFF2-40B4-BE49-F238E27FC236}">
                        <a16:creationId xmlns:a16="http://schemas.microsoft.com/office/drawing/2014/main" id="{1D299513-6CEC-4B48-A5D2-AE01E476C9D7}"/>
                      </a:ext>
                    </a:extLst>
                  </p:cNvPr>
                  <p:cNvSpPr txBox="1"/>
                  <p:nvPr/>
                </p:nvSpPr>
                <p:spPr>
                  <a:xfrm>
                    <a:off x="723998" y="2454185"/>
                    <a:ext cx="16203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Falta de padronização nos preços e cancelamentos.</a:t>
                    </a:r>
                  </a:p>
                </p:txBody>
              </p:sp>
              <p:sp>
                <p:nvSpPr>
                  <p:cNvPr id="87" name="Rounded Rectangle 3">
                    <a:extLst>
                      <a:ext uri="{FF2B5EF4-FFF2-40B4-BE49-F238E27FC236}">
                        <a16:creationId xmlns:a16="http://schemas.microsoft.com/office/drawing/2014/main" id="{AB130848-41D3-4728-94FF-A9CC40143C81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852B35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8" name="Rounded Rectangle 3">
                    <a:extLst>
                      <a:ext uri="{FF2B5EF4-FFF2-40B4-BE49-F238E27FC236}">
                        <a16:creationId xmlns:a16="http://schemas.microsoft.com/office/drawing/2014/main" id="{6082480F-6A4A-4568-828E-37AA8E27154E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dirty="0">
                        <a:solidFill>
                          <a:srgbClr val="1E293B"/>
                        </a:solidFill>
                        <a:latin typeface="Plus Jakarta Sans"/>
                      </a:rPr>
                      <a:t>C</a:t>
                    </a:r>
                    <a:r>
                      <a:rPr lang="pt-BR" sz="900" b="1" i="0" dirty="0">
                        <a:solidFill>
                          <a:srgbClr val="1E293B"/>
                        </a:solidFill>
                        <a:effectLst/>
                        <a:latin typeface="Plus Jakarta Sans"/>
                      </a:rPr>
                      <a:t>obranças incorretas de taxas e multas</a:t>
                    </a:r>
                  </a:p>
                </p:txBody>
              </p:sp>
            </p:grpSp>
          </p:grpSp>
          <p:grpSp>
            <p:nvGrpSpPr>
              <p:cNvPr id="92" name="Agrupar 91">
                <a:extLst>
                  <a:ext uri="{FF2B5EF4-FFF2-40B4-BE49-F238E27FC236}">
                    <a16:creationId xmlns:a16="http://schemas.microsoft.com/office/drawing/2014/main" id="{AB301907-FA49-4AA1-AA72-2FC3772813AE}"/>
                  </a:ext>
                </a:extLst>
              </p:cNvPr>
              <p:cNvGrpSpPr/>
              <p:nvPr/>
            </p:nvGrpSpPr>
            <p:grpSpPr>
              <a:xfrm>
                <a:off x="440584" y="996339"/>
                <a:ext cx="5655415" cy="361950"/>
                <a:chOff x="440584" y="996339"/>
                <a:chExt cx="5655415" cy="361950"/>
              </a:xfrm>
            </p:grpSpPr>
            <p:sp>
              <p:nvSpPr>
                <p:cNvPr id="91" name="Rounded Rectangle 4">
                  <a:extLst>
                    <a:ext uri="{FF2B5EF4-FFF2-40B4-BE49-F238E27FC236}">
                      <a16:creationId xmlns:a16="http://schemas.microsoft.com/office/drawing/2014/main" id="{0BA63CBE-54F9-4B31-9BBC-0E0E47EC9B94}"/>
                    </a:ext>
                  </a:extLst>
                </p:cNvPr>
                <p:cNvSpPr/>
                <p:nvPr/>
              </p:nvSpPr>
              <p:spPr>
                <a:xfrm>
                  <a:off x="440584" y="996339"/>
                  <a:ext cx="5655415" cy="361950"/>
                </a:xfrm>
                <a:prstGeom prst="roundRect">
                  <a:avLst>
                    <a:gd name="adj" fmla="val 21052"/>
                  </a:avLst>
                </a:prstGeom>
                <a:solidFill>
                  <a:srgbClr val="FEF2F2"/>
                </a:solidFill>
                <a:ln w="9525">
                  <a:solidFill>
                    <a:srgbClr val="FECAC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:r>
                    <a:rPr lang="pt-BR" sz="1200" b="1" dirty="0">
                      <a:solidFill>
                        <a:srgbClr val="0F172A"/>
                      </a:solidFill>
                      <a:latin typeface="Plus Jakarta Sans"/>
                    </a:rPr>
                    <a:t>	Problemas </a:t>
                  </a:r>
                  <a:r>
                    <a:rPr lang="pt-BR" sz="1200" b="1" i="0" u="none" dirty="0">
                      <a:solidFill>
                        <a:srgbClr val="0F172A"/>
                      </a:solidFill>
                      <a:latin typeface="Plus Jakarta Sans"/>
                    </a:rPr>
                    <a:t>Identificados</a:t>
                  </a:r>
                  <a:endParaRPr sz="1200" dirty="0"/>
                </a:p>
              </p:txBody>
            </p:sp>
            <p:pic>
              <p:nvPicPr>
                <p:cNvPr id="2054" name="Picture 6" descr="Caderneta - ícones de o negócio grátis">
                  <a:extLst>
                    <a:ext uri="{FF2B5EF4-FFF2-40B4-BE49-F238E27FC236}">
                      <a16:creationId xmlns:a16="http://schemas.microsoft.com/office/drawing/2014/main" id="{CF9D130E-A067-4F2D-B4E6-1227B91DDFE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12617" y="1016909"/>
                  <a:ext cx="336840" cy="3368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97" name="Rounded Rectangle 4">
                <a:extLst>
                  <a:ext uri="{FF2B5EF4-FFF2-40B4-BE49-F238E27FC236}">
                    <a16:creationId xmlns:a16="http://schemas.microsoft.com/office/drawing/2014/main" id="{8BDF86F2-D84B-49B5-85E2-F870C2A9781B}"/>
                  </a:ext>
                </a:extLst>
              </p:cNvPr>
              <p:cNvSpPr/>
              <p:nvPr/>
            </p:nvSpPr>
            <p:spPr>
              <a:xfrm>
                <a:off x="6124797" y="1004354"/>
                <a:ext cx="5632454" cy="361950"/>
              </a:xfrm>
              <a:prstGeom prst="roundRect">
                <a:avLst>
                  <a:gd name="adj" fmla="val 21052"/>
                </a:avLst>
              </a:prstGeom>
              <a:solidFill>
                <a:srgbClr val="F0FDF4"/>
              </a:solidFill>
              <a:ln w="9525">
                <a:solidFill>
                  <a:srgbClr val="BBF7D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pt-BR" sz="1200" b="1" dirty="0">
                    <a:solidFill>
                      <a:srgbClr val="0F172A"/>
                    </a:solidFill>
                    <a:latin typeface="Plus Jakarta Sans"/>
                  </a:rPr>
                  <a:t>	Benefícios </a:t>
                </a:r>
                <a:r>
                  <a:rPr lang="pt-BR" sz="1200" b="1" i="0" u="none" dirty="0">
                    <a:solidFill>
                      <a:srgbClr val="0F172A"/>
                    </a:solidFill>
                    <a:latin typeface="Plus Jakarta Sans"/>
                  </a:rPr>
                  <a:t>Identificados</a:t>
                </a:r>
                <a:endParaRPr lang="pt-BR" sz="1200" dirty="0"/>
              </a:p>
            </p:txBody>
          </p:sp>
          <p:grpSp>
            <p:nvGrpSpPr>
              <p:cNvPr id="102" name="Agrupar 101">
                <a:extLst>
                  <a:ext uri="{FF2B5EF4-FFF2-40B4-BE49-F238E27FC236}">
                    <a16:creationId xmlns:a16="http://schemas.microsoft.com/office/drawing/2014/main" id="{9C1D2AC6-D0AB-409B-A3FB-A3085DC59F61}"/>
                  </a:ext>
                </a:extLst>
              </p:cNvPr>
              <p:cNvGrpSpPr/>
              <p:nvPr/>
            </p:nvGrpSpPr>
            <p:grpSpPr>
              <a:xfrm>
                <a:off x="6124797" y="1412018"/>
                <a:ext cx="5615384" cy="2747169"/>
                <a:chOff x="451821" y="1409753"/>
                <a:chExt cx="5615384" cy="2747169"/>
              </a:xfrm>
            </p:grpSpPr>
            <p:grpSp>
              <p:nvGrpSpPr>
                <p:cNvPr id="103" name="Agrupar 102">
                  <a:extLst>
                    <a:ext uri="{FF2B5EF4-FFF2-40B4-BE49-F238E27FC236}">
                      <a16:creationId xmlns:a16="http://schemas.microsoft.com/office/drawing/2014/main" id="{15043167-645B-494D-9D64-A47851C2E3EA}"/>
                    </a:ext>
                  </a:extLst>
                </p:cNvPr>
                <p:cNvGrpSpPr/>
                <p:nvPr/>
              </p:nvGrpSpPr>
              <p:grpSpPr>
                <a:xfrm>
                  <a:off x="451821" y="1409753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139" name="Retângulo: Cantos Arredondados 138">
                    <a:extLst>
                      <a:ext uri="{FF2B5EF4-FFF2-40B4-BE49-F238E27FC236}">
                        <a16:creationId xmlns:a16="http://schemas.microsoft.com/office/drawing/2014/main" id="{4161A9CD-05BB-4E12-A695-8CC3F473816C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174D38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40" name="Retângulo: Cantos Arredondados 139">
                    <a:extLst>
                      <a:ext uri="{FF2B5EF4-FFF2-40B4-BE49-F238E27FC236}">
                        <a16:creationId xmlns:a16="http://schemas.microsoft.com/office/drawing/2014/main" id="{8450ED5D-FA84-4BDA-89AC-68B7B3A89781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41" name="Retângulo: Cantos Arredondados 140">
                    <a:extLst>
                      <a:ext uri="{FF2B5EF4-FFF2-40B4-BE49-F238E27FC236}">
                        <a16:creationId xmlns:a16="http://schemas.microsoft.com/office/drawing/2014/main" id="{6B7ED3FE-CA36-4DAC-AAE5-4F34D2F25647}"/>
                      </a:ext>
                    </a:extLst>
                  </p:cNvPr>
                  <p:cNvSpPr/>
                  <p:nvPr/>
                </p:nvSpPr>
                <p:spPr>
                  <a:xfrm>
                    <a:off x="733424" y="2231431"/>
                    <a:ext cx="918235" cy="222149"/>
                  </a:xfrm>
                  <a:prstGeom prst="roundRect">
                    <a:avLst/>
                  </a:prstGeom>
                  <a:solidFill>
                    <a:srgbClr val="174D38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Flexibilidade</a:t>
                    </a:r>
                    <a:endParaRPr lang="pt-BR" sz="1050" dirty="0">
                      <a:latin typeface="Plus Jakarta Sans"/>
                    </a:endParaRPr>
                  </a:p>
                </p:txBody>
              </p:sp>
              <p:sp>
                <p:nvSpPr>
                  <p:cNvPr id="142" name="CaixaDeTexto 141">
                    <a:extLst>
                      <a:ext uri="{FF2B5EF4-FFF2-40B4-BE49-F238E27FC236}">
                        <a16:creationId xmlns:a16="http://schemas.microsoft.com/office/drawing/2014/main" id="{90BEB725-5C2B-4D8C-81ED-EF45FF0A3D9F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0" y="2530136"/>
                    <a:ext cx="1535552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Contratação sem fidelidade</a:t>
                    </a:r>
                    <a:endParaRPr lang="pt-BR" sz="900" dirty="0">
                      <a:latin typeface="Plus Jakarta Sans"/>
                    </a:endParaRPr>
                  </a:p>
                </p:txBody>
              </p:sp>
              <p:sp>
                <p:nvSpPr>
                  <p:cNvPr id="143" name="Rounded Rectangle 3">
                    <a:extLst>
                      <a:ext uri="{FF2B5EF4-FFF2-40B4-BE49-F238E27FC236}">
                        <a16:creationId xmlns:a16="http://schemas.microsoft.com/office/drawing/2014/main" id="{1D2AF30D-DCB1-45B0-A3FE-741DFD191AFA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BCE0C9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44" name="Rounded Rectangle 3">
                    <a:extLst>
                      <a:ext uri="{FF2B5EF4-FFF2-40B4-BE49-F238E27FC236}">
                        <a16:creationId xmlns:a16="http://schemas.microsoft.com/office/drawing/2014/main" id="{A77640C4-AEEE-4B45-9081-6B7BDF71F531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i="0" dirty="0">
                        <a:solidFill>
                          <a:srgbClr val="1E293B"/>
                        </a:solidFill>
                        <a:effectLst/>
                        <a:latin typeface="Plus Jakarta Sans"/>
                      </a:rPr>
                      <a:t>Não exige contratos mensais ou anual</a:t>
                    </a:r>
                    <a:endParaRPr sz="900" dirty="0">
                      <a:latin typeface="Plus Jakarta Sans"/>
                    </a:endParaRPr>
                  </a:p>
                </p:txBody>
              </p:sp>
            </p:grpSp>
            <p:grpSp>
              <p:nvGrpSpPr>
                <p:cNvPr id="104" name="Agrupar 103">
                  <a:extLst>
                    <a:ext uri="{FF2B5EF4-FFF2-40B4-BE49-F238E27FC236}">
                      <a16:creationId xmlns:a16="http://schemas.microsoft.com/office/drawing/2014/main" id="{9F1EE279-DC68-4D68-9D96-FBA064629F72}"/>
                    </a:ext>
                  </a:extLst>
                </p:cNvPr>
                <p:cNvGrpSpPr/>
                <p:nvPr/>
              </p:nvGrpSpPr>
              <p:grpSpPr>
                <a:xfrm>
                  <a:off x="2334965" y="1409753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133" name="Retângulo: Cantos Arredondados 132">
                    <a:extLst>
                      <a:ext uri="{FF2B5EF4-FFF2-40B4-BE49-F238E27FC236}">
                        <a16:creationId xmlns:a16="http://schemas.microsoft.com/office/drawing/2014/main" id="{9AAFFD9A-6361-4812-AE19-C3FACB735B6B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246447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34" name="Retângulo: Cantos Arredondados 133">
                    <a:extLst>
                      <a:ext uri="{FF2B5EF4-FFF2-40B4-BE49-F238E27FC236}">
                        <a16:creationId xmlns:a16="http://schemas.microsoft.com/office/drawing/2014/main" id="{A0871350-BC17-4B42-A608-1B872B4A4CBF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35" name="Retângulo: Cantos Arredondados 134">
                    <a:extLst>
                      <a:ext uri="{FF2B5EF4-FFF2-40B4-BE49-F238E27FC236}">
                        <a16:creationId xmlns:a16="http://schemas.microsoft.com/office/drawing/2014/main" id="{3A2AFF0E-1640-440A-B09D-5243F37D42CB}"/>
                      </a:ext>
                    </a:extLst>
                  </p:cNvPr>
                  <p:cNvSpPr/>
                  <p:nvPr/>
                </p:nvSpPr>
                <p:spPr>
                  <a:xfrm>
                    <a:off x="733425" y="2231431"/>
                    <a:ext cx="982968" cy="222149"/>
                  </a:xfrm>
                  <a:prstGeom prst="roundRect">
                    <a:avLst/>
                  </a:prstGeom>
                  <a:solidFill>
                    <a:srgbClr val="174D38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Versatilidade</a:t>
                    </a:r>
                  </a:p>
                </p:txBody>
              </p:sp>
              <p:sp>
                <p:nvSpPr>
                  <p:cNvPr id="136" name="CaixaDeTexto 135">
                    <a:extLst>
                      <a:ext uri="{FF2B5EF4-FFF2-40B4-BE49-F238E27FC236}">
                        <a16:creationId xmlns:a16="http://schemas.microsoft.com/office/drawing/2014/main" id="{4AD4B9BC-4CAE-4382-AADB-0A073D023540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0" y="2450234"/>
                    <a:ext cx="15355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Atendimento de demandas pontuais</a:t>
                    </a:r>
                    <a:endParaRPr lang="pt-BR" sz="900" dirty="0">
                      <a:latin typeface="Plus Jakarta Sans"/>
                    </a:endParaRPr>
                  </a:p>
                </p:txBody>
              </p:sp>
              <p:sp>
                <p:nvSpPr>
                  <p:cNvPr id="137" name="Rounded Rectangle 3">
                    <a:extLst>
                      <a:ext uri="{FF2B5EF4-FFF2-40B4-BE49-F238E27FC236}">
                        <a16:creationId xmlns:a16="http://schemas.microsoft.com/office/drawing/2014/main" id="{C063119A-A010-4EF2-9E4C-4400194FB093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BCE0C9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38" name="Rounded Rectangle 3">
                    <a:extLst>
                      <a:ext uri="{FF2B5EF4-FFF2-40B4-BE49-F238E27FC236}">
                        <a16:creationId xmlns:a16="http://schemas.microsoft.com/office/drawing/2014/main" id="{0893DAE8-98EF-4E63-B364-0DBE90267E50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i="0" dirty="0">
                        <a:solidFill>
                          <a:srgbClr val="1E293B"/>
                        </a:solidFill>
                        <a:effectLst/>
                        <a:latin typeface="Plus Jakarta Sans"/>
                      </a:rPr>
                      <a:t>Atende reuniões, entrevistas, consultorias e treinamentos.</a:t>
                    </a:r>
                    <a:endParaRPr sz="900" dirty="0">
                      <a:latin typeface="Plus Jakarta Sans"/>
                    </a:endParaRPr>
                  </a:p>
                </p:txBody>
              </p:sp>
            </p:grpSp>
            <p:grpSp>
              <p:nvGrpSpPr>
                <p:cNvPr id="105" name="Agrupar 104">
                  <a:extLst>
                    <a:ext uri="{FF2B5EF4-FFF2-40B4-BE49-F238E27FC236}">
                      <a16:creationId xmlns:a16="http://schemas.microsoft.com/office/drawing/2014/main" id="{C59FC3CC-2E96-41BD-88B2-A8E507B0B796}"/>
                    </a:ext>
                  </a:extLst>
                </p:cNvPr>
                <p:cNvGrpSpPr/>
                <p:nvPr/>
              </p:nvGrpSpPr>
              <p:grpSpPr>
                <a:xfrm>
                  <a:off x="4218109" y="1409753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127" name="Retângulo: Cantos Arredondados 126">
                    <a:extLst>
                      <a:ext uri="{FF2B5EF4-FFF2-40B4-BE49-F238E27FC236}">
                        <a16:creationId xmlns:a16="http://schemas.microsoft.com/office/drawing/2014/main" id="{8D03FFAB-A075-4733-B190-4E3B8EAD752C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347D56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28" name="Retângulo: Cantos Arredondados 127">
                    <a:extLst>
                      <a:ext uri="{FF2B5EF4-FFF2-40B4-BE49-F238E27FC236}">
                        <a16:creationId xmlns:a16="http://schemas.microsoft.com/office/drawing/2014/main" id="{F4C37EF3-39C3-4792-A1F6-9DEACE9503A8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29" name="Retângulo: Cantos Arredondados 128">
                    <a:extLst>
                      <a:ext uri="{FF2B5EF4-FFF2-40B4-BE49-F238E27FC236}">
                        <a16:creationId xmlns:a16="http://schemas.microsoft.com/office/drawing/2014/main" id="{7ABD5D27-0394-41BD-B445-ED04C93A1357}"/>
                      </a:ext>
                    </a:extLst>
                  </p:cNvPr>
                  <p:cNvSpPr/>
                  <p:nvPr/>
                </p:nvSpPr>
                <p:spPr>
                  <a:xfrm>
                    <a:off x="733424" y="2231431"/>
                    <a:ext cx="1011157" cy="222149"/>
                  </a:xfrm>
                  <a:prstGeom prst="roundRect">
                    <a:avLst/>
                  </a:prstGeom>
                  <a:solidFill>
                    <a:srgbClr val="174D38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Rentabilidade</a:t>
                    </a:r>
                    <a:endParaRPr lang="pt-BR" sz="1050" dirty="0">
                      <a:latin typeface="Plus Jakarta Sans"/>
                    </a:endParaRPr>
                  </a:p>
                </p:txBody>
              </p:sp>
              <p:sp>
                <p:nvSpPr>
                  <p:cNvPr id="130" name="CaixaDeTexto 129">
                    <a:extLst>
                      <a:ext uri="{FF2B5EF4-FFF2-40B4-BE49-F238E27FC236}">
                        <a16:creationId xmlns:a16="http://schemas.microsoft.com/office/drawing/2014/main" id="{0E7FF0DB-91F1-4E7E-9508-1F8366D20B18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0" y="2459112"/>
                    <a:ext cx="15355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Aproveitamento de horários vagos</a:t>
                    </a:r>
                  </a:p>
                </p:txBody>
              </p:sp>
              <p:sp>
                <p:nvSpPr>
                  <p:cNvPr id="131" name="Rounded Rectangle 3">
                    <a:extLst>
                      <a:ext uri="{FF2B5EF4-FFF2-40B4-BE49-F238E27FC236}">
                        <a16:creationId xmlns:a16="http://schemas.microsoft.com/office/drawing/2014/main" id="{AE62E5CF-096F-418E-858C-9B8052868A5D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BCE0C9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32" name="Rounded Rectangle 3">
                    <a:extLst>
                      <a:ext uri="{FF2B5EF4-FFF2-40B4-BE49-F238E27FC236}">
                        <a16:creationId xmlns:a16="http://schemas.microsoft.com/office/drawing/2014/main" id="{B93DAD10-D3DE-4F80-BA24-8B7629CC7B0F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i="0" dirty="0">
                        <a:solidFill>
                          <a:srgbClr val="1E293B"/>
                        </a:solidFill>
                        <a:effectLst/>
                        <a:latin typeface="Plus Jakarta Sans"/>
                      </a:rPr>
                      <a:t>Transforma períodos ociosos em oportunidades de receita.</a:t>
                    </a:r>
                    <a:endParaRPr sz="900" dirty="0">
                      <a:latin typeface="Plus Jakarta Sans"/>
                    </a:endParaRPr>
                  </a:p>
                </p:txBody>
              </p:sp>
            </p:grpSp>
            <p:grpSp>
              <p:nvGrpSpPr>
                <p:cNvPr id="106" name="Agrupar 105">
                  <a:extLst>
                    <a:ext uri="{FF2B5EF4-FFF2-40B4-BE49-F238E27FC236}">
                      <a16:creationId xmlns:a16="http://schemas.microsoft.com/office/drawing/2014/main" id="{818D50C3-C7E7-48D7-B9FD-22A33405AEA3}"/>
                    </a:ext>
                  </a:extLst>
                </p:cNvPr>
                <p:cNvGrpSpPr/>
                <p:nvPr/>
              </p:nvGrpSpPr>
              <p:grpSpPr>
                <a:xfrm>
                  <a:off x="451821" y="2793546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121" name="Retângulo: Cantos Arredondados 120">
                    <a:extLst>
                      <a:ext uri="{FF2B5EF4-FFF2-40B4-BE49-F238E27FC236}">
                        <a16:creationId xmlns:a16="http://schemas.microsoft.com/office/drawing/2014/main" id="{0587E0D7-39C3-455D-BAB8-188F57027F5D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439568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22" name="Retângulo: Cantos Arredondados 121">
                    <a:extLst>
                      <a:ext uri="{FF2B5EF4-FFF2-40B4-BE49-F238E27FC236}">
                        <a16:creationId xmlns:a16="http://schemas.microsoft.com/office/drawing/2014/main" id="{0C037950-8AE5-4554-BD6A-B7DFDD20B88D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23" name="Retângulo: Cantos Arredondados 122">
                    <a:extLst>
                      <a:ext uri="{FF2B5EF4-FFF2-40B4-BE49-F238E27FC236}">
                        <a16:creationId xmlns:a16="http://schemas.microsoft.com/office/drawing/2014/main" id="{C99381BA-7EC0-42BD-AB62-890DE9BE7CDA}"/>
                      </a:ext>
                    </a:extLst>
                  </p:cNvPr>
                  <p:cNvSpPr/>
                  <p:nvPr/>
                </p:nvSpPr>
                <p:spPr>
                  <a:xfrm>
                    <a:off x="733424" y="2231431"/>
                    <a:ext cx="948921" cy="222149"/>
                  </a:xfrm>
                  <a:prstGeom prst="roundRect">
                    <a:avLst/>
                  </a:prstGeom>
                  <a:solidFill>
                    <a:srgbClr val="174D38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Dinamismo</a:t>
                    </a:r>
                    <a:endParaRPr lang="pt-BR" sz="1050" dirty="0">
                      <a:latin typeface="Plus Jakarta Sans"/>
                    </a:endParaRPr>
                  </a:p>
                </p:txBody>
              </p:sp>
              <p:sp>
                <p:nvSpPr>
                  <p:cNvPr id="124" name="CaixaDeTexto 123">
                    <a:extLst>
                      <a:ext uri="{FF2B5EF4-FFF2-40B4-BE49-F238E27FC236}">
                        <a16:creationId xmlns:a16="http://schemas.microsoft.com/office/drawing/2014/main" id="{DA83026D-6345-4817-ADC1-2BFDA0AF681B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0" y="2450234"/>
                    <a:ext cx="15355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Preços conforme a demanda</a:t>
                    </a:r>
                    <a:endParaRPr lang="pt-BR" sz="900" dirty="0">
                      <a:latin typeface="Plus Jakarta Sans"/>
                    </a:endParaRPr>
                  </a:p>
                </p:txBody>
              </p:sp>
              <p:sp>
                <p:nvSpPr>
                  <p:cNvPr id="125" name="Rounded Rectangle 3">
                    <a:extLst>
                      <a:ext uri="{FF2B5EF4-FFF2-40B4-BE49-F238E27FC236}">
                        <a16:creationId xmlns:a16="http://schemas.microsoft.com/office/drawing/2014/main" id="{8FE49DEE-0C34-4305-89AF-0BE97128A972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BCE0C9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26" name="Rounded Rectangle 3">
                    <a:extLst>
                      <a:ext uri="{FF2B5EF4-FFF2-40B4-BE49-F238E27FC236}">
                        <a16:creationId xmlns:a16="http://schemas.microsoft.com/office/drawing/2014/main" id="{2AAE2B6D-1B58-4105-A521-51C85C04EEEF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i="0" dirty="0">
                        <a:solidFill>
                          <a:srgbClr val="1E293B"/>
                        </a:solidFill>
                        <a:effectLst/>
                        <a:latin typeface="Plus Jakarta Sans"/>
                      </a:rPr>
                      <a:t>Permite ajustar valores conforme a procura.</a:t>
                    </a:r>
                    <a:endParaRPr sz="900" dirty="0">
                      <a:latin typeface="Plus Jakarta Sans"/>
                    </a:endParaRPr>
                  </a:p>
                </p:txBody>
              </p:sp>
            </p:grpSp>
            <p:grpSp>
              <p:nvGrpSpPr>
                <p:cNvPr id="107" name="Agrupar 106">
                  <a:extLst>
                    <a:ext uri="{FF2B5EF4-FFF2-40B4-BE49-F238E27FC236}">
                      <a16:creationId xmlns:a16="http://schemas.microsoft.com/office/drawing/2014/main" id="{14CFB735-93C4-4999-80AF-A80721AF88D6}"/>
                    </a:ext>
                  </a:extLst>
                </p:cNvPr>
                <p:cNvGrpSpPr/>
                <p:nvPr/>
              </p:nvGrpSpPr>
              <p:grpSpPr>
                <a:xfrm>
                  <a:off x="2325538" y="2792286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115" name="Retângulo: Cantos Arredondados 114">
                    <a:extLst>
                      <a:ext uri="{FF2B5EF4-FFF2-40B4-BE49-F238E27FC236}">
                        <a16:creationId xmlns:a16="http://schemas.microsoft.com/office/drawing/2014/main" id="{FA00639C-2879-4C9D-8E79-48161FBC1F7F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5BAC7B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16" name="Retângulo: Cantos Arredondados 115">
                    <a:extLst>
                      <a:ext uri="{FF2B5EF4-FFF2-40B4-BE49-F238E27FC236}">
                        <a16:creationId xmlns:a16="http://schemas.microsoft.com/office/drawing/2014/main" id="{C3809319-44B4-403E-B353-830BAB76F042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17" name="Retângulo: Cantos Arredondados 116">
                    <a:extLst>
                      <a:ext uri="{FF2B5EF4-FFF2-40B4-BE49-F238E27FC236}">
                        <a16:creationId xmlns:a16="http://schemas.microsoft.com/office/drawing/2014/main" id="{1374AAD4-3C99-4ECF-9DDE-335574C3C90C}"/>
                      </a:ext>
                    </a:extLst>
                  </p:cNvPr>
                  <p:cNvSpPr/>
                  <p:nvPr/>
                </p:nvSpPr>
                <p:spPr>
                  <a:xfrm>
                    <a:off x="733424" y="2231431"/>
                    <a:ext cx="1079611" cy="222149"/>
                  </a:xfrm>
                  <a:prstGeom prst="roundRect">
                    <a:avLst/>
                  </a:prstGeom>
                  <a:solidFill>
                    <a:srgbClr val="174D38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Adaptabilidade</a:t>
                    </a:r>
                    <a:endParaRPr lang="pt-BR" sz="1050" dirty="0">
                      <a:latin typeface="Plus Jakarta Sans"/>
                    </a:endParaRPr>
                  </a:p>
                </p:txBody>
              </p:sp>
              <p:sp>
                <p:nvSpPr>
                  <p:cNvPr id="118" name="CaixaDeTexto 117">
                    <a:extLst>
                      <a:ext uri="{FF2B5EF4-FFF2-40B4-BE49-F238E27FC236}">
                        <a16:creationId xmlns:a16="http://schemas.microsoft.com/office/drawing/2014/main" id="{9385918F-F175-4CD2-BCD3-2811F0693B5E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0" y="2432478"/>
                    <a:ext cx="15355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Diferentes modalidades de uso</a:t>
                    </a:r>
                  </a:p>
                </p:txBody>
              </p:sp>
              <p:sp>
                <p:nvSpPr>
                  <p:cNvPr id="119" name="Rounded Rectangle 3">
                    <a:extLst>
                      <a:ext uri="{FF2B5EF4-FFF2-40B4-BE49-F238E27FC236}">
                        <a16:creationId xmlns:a16="http://schemas.microsoft.com/office/drawing/2014/main" id="{1900B155-159C-4B21-8133-0315256D6169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BCE0C9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20" name="Rounded Rectangle 3">
                    <a:extLst>
                      <a:ext uri="{FF2B5EF4-FFF2-40B4-BE49-F238E27FC236}">
                        <a16:creationId xmlns:a16="http://schemas.microsoft.com/office/drawing/2014/main" id="{EF51F182-AB03-4B7E-8983-D9D615711FBA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i="0" dirty="0">
                        <a:solidFill>
                          <a:srgbClr val="1E293B"/>
                        </a:solidFill>
                        <a:effectLst/>
                        <a:latin typeface="Plus Jakarta Sans"/>
                      </a:rPr>
                      <a:t>Oferecemos locação por hora, diária ou recorrência.</a:t>
                    </a:r>
                  </a:p>
                </p:txBody>
              </p:sp>
            </p:grpSp>
            <p:grpSp>
              <p:nvGrpSpPr>
                <p:cNvPr id="108" name="Agrupar 107">
                  <a:extLst>
                    <a:ext uri="{FF2B5EF4-FFF2-40B4-BE49-F238E27FC236}">
                      <a16:creationId xmlns:a16="http://schemas.microsoft.com/office/drawing/2014/main" id="{43E3BD42-DC1D-4AEF-970B-237B003B71BB}"/>
                    </a:ext>
                  </a:extLst>
                </p:cNvPr>
                <p:cNvGrpSpPr/>
                <p:nvPr/>
              </p:nvGrpSpPr>
              <p:grpSpPr>
                <a:xfrm>
                  <a:off x="4200353" y="2793681"/>
                  <a:ext cx="1849096" cy="1363241"/>
                  <a:chOff x="609600" y="2121763"/>
                  <a:chExt cx="1849096" cy="1363241"/>
                </a:xfrm>
              </p:grpSpPr>
              <p:sp>
                <p:nvSpPr>
                  <p:cNvPr id="109" name="Retângulo: Cantos Arredondados 108">
                    <a:extLst>
                      <a:ext uri="{FF2B5EF4-FFF2-40B4-BE49-F238E27FC236}">
                        <a16:creationId xmlns:a16="http://schemas.microsoft.com/office/drawing/2014/main" id="{FAFFE75C-2B57-477A-8B61-6362A62D7C95}"/>
                      </a:ext>
                    </a:extLst>
                  </p:cNvPr>
                  <p:cNvSpPr/>
                  <p:nvPr/>
                </p:nvSpPr>
                <p:spPr>
                  <a:xfrm>
                    <a:off x="609600" y="2121763"/>
                    <a:ext cx="1849096" cy="1307237"/>
                  </a:xfrm>
                  <a:prstGeom prst="roundRect">
                    <a:avLst/>
                  </a:prstGeom>
                  <a:solidFill>
                    <a:srgbClr val="79BF9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110" name="Retângulo: Cantos Arredondados 109">
                    <a:extLst>
                      <a:ext uri="{FF2B5EF4-FFF2-40B4-BE49-F238E27FC236}">
                        <a16:creationId xmlns:a16="http://schemas.microsoft.com/office/drawing/2014/main" id="{38CCE065-BACF-466D-A5ED-5016EF2FCAB0}"/>
                      </a:ext>
                    </a:extLst>
                  </p:cNvPr>
                  <p:cNvSpPr/>
                  <p:nvPr/>
                </p:nvSpPr>
                <p:spPr>
                  <a:xfrm>
                    <a:off x="609600" y="2177767"/>
                    <a:ext cx="1849096" cy="130723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11" name="Retângulo: Cantos Arredondados 110">
                    <a:extLst>
                      <a:ext uri="{FF2B5EF4-FFF2-40B4-BE49-F238E27FC236}">
                        <a16:creationId xmlns:a16="http://schemas.microsoft.com/office/drawing/2014/main" id="{84547E47-2D76-4ACC-AF0D-FDEEB78DE3E9}"/>
                      </a:ext>
                    </a:extLst>
                  </p:cNvPr>
                  <p:cNvSpPr/>
                  <p:nvPr/>
                </p:nvSpPr>
                <p:spPr>
                  <a:xfrm>
                    <a:off x="733425" y="2231431"/>
                    <a:ext cx="825096" cy="222149"/>
                  </a:xfrm>
                  <a:prstGeom prst="roundRect">
                    <a:avLst/>
                  </a:prstGeom>
                  <a:solidFill>
                    <a:srgbClr val="174D38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sz="1050" b="1" i="0" dirty="0">
                        <a:solidFill>
                          <a:srgbClr val="FFFFFF"/>
                        </a:solidFill>
                        <a:effectLst/>
                        <a:latin typeface="Plus Jakarta Sans"/>
                      </a:rPr>
                      <a:t>Alcance</a:t>
                    </a:r>
                    <a:endParaRPr lang="pt-BR" sz="1050" dirty="0">
                      <a:latin typeface="Plus Jakarta Sans"/>
                    </a:endParaRPr>
                  </a:p>
                </p:txBody>
              </p:sp>
              <p:sp>
                <p:nvSpPr>
                  <p:cNvPr id="112" name="CaixaDeTexto 111">
                    <a:extLst>
                      <a:ext uri="{FF2B5EF4-FFF2-40B4-BE49-F238E27FC236}">
                        <a16:creationId xmlns:a16="http://schemas.microsoft.com/office/drawing/2014/main" id="{A65E09C5-4620-4BAB-8647-51A389BF8286}"/>
                      </a:ext>
                    </a:extLst>
                  </p:cNvPr>
                  <p:cNvSpPr txBox="1"/>
                  <p:nvPr/>
                </p:nvSpPr>
                <p:spPr>
                  <a:xfrm>
                    <a:off x="723998" y="2507453"/>
                    <a:ext cx="1620300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900" b="1" i="0" dirty="0">
                        <a:solidFill>
                          <a:srgbClr val="0F172A"/>
                        </a:solidFill>
                        <a:effectLst/>
                        <a:latin typeface="Plus Jakarta Sans"/>
                      </a:rPr>
                      <a:t>Atração de novos clientes</a:t>
                    </a:r>
                  </a:p>
                </p:txBody>
              </p:sp>
              <p:sp>
                <p:nvSpPr>
                  <p:cNvPr id="113" name="Rounded Rectangle 3">
                    <a:extLst>
                      <a:ext uri="{FF2B5EF4-FFF2-40B4-BE49-F238E27FC236}">
                        <a16:creationId xmlns:a16="http://schemas.microsoft.com/office/drawing/2014/main" id="{43A00C01-65E8-4D89-B140-3058770B4A74}"/>
                      </a:ext>
                    </a:extLst>
                  </p:cNvPr>
                  <p:cNvSpPr/>
                  <p:nvPr/>
                </p:nvSpPr>
                <p:spPr>
                  <a:xfrm>
                    <a:off x="699377" y="2783086"/>
                    <a:ext cx="1604488" cy="609600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BCE0C9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14" name="Rounded Rectangle 3">
                    <a:extLst>
                      <a:ext uri="{FF2B5EF4-FFF2-40B4-BE49-F238E27FC236}">
                        <a16:creationId xmlns:a16="http://schemas.microsoft.com/office/drawing/2014/main" id="{CAA2A5D3-A8C9-4510-94B6-71AC95E1DD23}"/>
                      </a:ext>
                    </a:extLst>
                  </p:cNvPr>
                  <p:cNvSpPr/>
                  <p:nvPr/>
                </p:nvSpPr>
                <p:spPr>
                  <a:xfrm>
                    <a:off x="733425" y="2782238"/>
                    <a:ext cx="1604488" cy="610447"/>
                  </a:xfrm>
                  <a:prstGeom prst="roundRect">
                    <a:avLst>
                      <a:gd name="adj" fmla="val 15625"/>
                    </a:avLst>
                  </a:prstGeom>
                  <a:solidFill>
                    <a:srgbClr val="F8FAFC"/>
                  </a:solidFill>
                  <a:ln w="952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pt-BR" sz="900" b="1" dirty="0">
                        <a:solidFill>
                          <a:srgbClr val="1E293B"/>
                        </a:solidFill>
                        <a:latin typeface="Plus Jakarta Sans"/>
                      </a:rPr>
                      <a:t>Atrai clientes que não buscam contratos mensais.</a:t>
                    </a:r>
                    <a:endParaRPr lang="pt-BR" sz="900" b="1" i="0" dirty="0">
                      <a:solidFill>
                        <a:srgbClr val="1E293B"/>
                      </a:solidFill>
                      <a:effectLst/>
                      <a:latin typeface="Plus Jakarta Sans"/>
                    </a:endParaRPr>
                  </a:p>
                </p:txBody>
              </p:sp>
            </p:grpSp>
          </p:grpSp>
        </p:grpSp>
        <p:pic>
          <p:nvPicPr>
            <p:cNvPr id="2056" name="Picture 8" descr="Vantagem - ícones de mãos e gestos grátis">
              <a:extLst>
                <a:ext uri="{FF2B5EF4-FFF2-40B4-BE49-F238E27FC236}">
                  <a16:creationId xmlns:a16="http://schemas.microsoft.com/office/drawing/2014/main" id="{579C91F3-C65D-4E4A-AFA0-AB8E2CA850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8032" y="1008894"/>
              <a:ext cx="336840" cy="336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9" name="Agrupar 148">
            <a:extLst>
              <a:ext uri="{FF2B5EF4-FFF2-40B4-BE49-F238E27FC236}">
                <a16:creationId xmlns:a16="http://schemas.microsoft.com/office/drawing/2014/main" id="{CD05B318-C20E-4285-8199-3AB4C9B06CF5}"/>
              </a:ext>
            </a:extLst>
          </p:cNvPr>
          <p:cNvGrpSpPr/>
          <p:nvPr/>
        </p:nvGrpSpPr>
        <p:grpSpPr>
          <a:xfrm>
            <a:off x="414728" y="1208674"/>
            <a:ext cx="11362841" cy="609600"/>
            <a:chOff x="414728" y="1377255"/>
            <a:chExt cx="11362841" cy="609600"/>
          </a:xfrm>
        </p:grpSpPr>
        <p:sp>
          <p:nvSpPr>
            <p:cNvPr id="150" name="Rounded Rectangle 3">
              <a:extLst>
                <a:ext uri="{FF2B5EF4-FFF2-40B4-BE49-F238E27FC236}">
                  <a16:creationId xmlns:a16="http://schemas.microsoft.com/office/drawing/2014/main" id="{B89B0DE2-98B0-4FF9-99EB-7B4DD95D1730}"/>
                </a:ext>
              </a:extLst>
            </p:cNvPr>
            <p:cNvSpPr/>
            <p:nvPr/>
          </p:nvSpPr>
          <p:spPr>
            <a:xfrm>
              <a:off x="457200" y="1377255"/>
              <a:ext cx="11277600" cy="609600"/>
            </a:xfrm>
            <a:prstGeom prst="roundRect">
              <a:avLst>
                <a:gd name="adj" fmla="val 1562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51" name="Picture 15" descr="image.png">
              <a:extLst>
                <a:ext uri="{FF2B5EF4-FFF2-40B4-BE49-F238E27FC236}">
                  <a16:creationId xmlns:a16="http://schemas.microsoft.com/office/drawing/2014/main" id="{5EF3117A-6EA5-481B-8BC4-398358ACD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30499" y="1624905"/>
              <a:ext cx="76200" cy="114300"/>
            </a:xfrm>
            <a:prstGeom prst="rect">
              <a:avLst/>
            </a:prstGeom>
          </p:spPr>
        </p:pic>
        <p:pic>
          <p:nvPicPr>
            <p:cNvPr id="152" name="Picture 16" descr="image.png">
              <a:extLst>
                <a:ext uri="{FF2B5EF4-FFF2-40B4-BE49-F238E27FC236}">
                  <a16:creationId xmlns:a16="http://schemas.microsoft.com/office/drawing/2014/main" id="{370EC02C-35AB-4B16-82BA-3A8E35F32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94274" y="1624905"/>
              <a:ext cx="76200" cy="114300"/>
            </a:xfrm>
            <a:prstGeom prst="rect">
              <a:avLst/>
            </a:prstGeom>
          </p:spPr>
        </p:pic>
        <p:pic>
          <p:nvPicPr>
            <p:cNvPr id="153" name="Picture 17" descr="image.png">
              <a:extLst>
                <a:ext uri="{FF2B5EF4-FFF2-40B4-BE49-F238E27FC236}">
                  <a16:creationId xmlns:a16="http://schemas.microsoft.com/office/drawing/2014/main" id="{BCE545EB-204F-4C02-9FC8-1259AE2F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58048" y="1624905"/>
              <a:ext cx="76200" cy="114300"/>
            </a:xfrm>
            <a:prstGeom prst="rect">
              <a:avLst/>
            </a:prstGeom>
          </p:spPr>
        </p:pic>
        <p:pic>
          <p:nvPicPr>
            <p:cNvPr id="154" name="Picture 18" descr="image.png">
              <a:extLst>
                <a:ext uri="{FF2B5EF4-FFF2-40B4-BE49-F238E27FC236}">
                  <a16:creationId xmlns:a16="http://schemas.microsoft.com/office/drawing/2014/main" id="{FDF2E8A7-6C09-4248-B643-368341912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1823" y="1624905"/>
              <a:ext cx="76200" cy="114300"/>
            </a:xfrm>
            <a:prstGeom prst="rect">
              <a:avLst/>
            </a:prstGeom>
          </p:spPr>
        </p:pic>
        <p:pic>
          <p:nvPicPr>
            <p:cNvPr id="155" name="Picture 19" descr="image.png">
              <a:extLst>
                <a:ext uri="{FF2B5EF4-FFF2-40B4-BE49-F238E27FC236}">
                  <a16:creationId xmlns:a16="http://schemas.microsoft.com/office/drawing/2014/main" id="{20818A4F-8DE8-4005-93F4-E065C39B2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85598" y="1624905"/>
              <a:ext cx="76200" cy="114300"/>
            </a:xfrm>
            <a:prstGeom prst="rect">
              <a:avLst/>
            </a:prstGeom>
          </p:spPr>
        </p:pic>
        <p:pic>
          <p:nvPicPr>
            <p:cNvPr id="156" name="Picture 21" descr="image.png">
              <a:extLst>
                <a:ext uri="{FF2B5EF4-FFF2-40B4-BE49-F238E27FC236}">
                  <a16:creationId xmlns:a16="http://schemas.microsoft.com/office/drawing/2014/main" id="{4F03734F-7748-4BB4-AB26-5449A393F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79487" y="1529655"/>
              <a:ext cx="114300" cy="152400"/>
            </a:xfrm>
            <a:prstGeom prst="rect">
              <a:avLst/>
            </a:prstGeom>
          </p:spPr>
        </p:pic>
        <p:pic>
          <p:nvPicPr>
            <p:cNvPr id="157" name="Picture 22" descr="image.png">
              <a:extLst>
                <a:ext uri="{FF2B5EF4-FFF2-40B4-BE49-F238E27FC236}">
                  <a16:creationId xmlns:a16="http://schemas.microsoft.com/office/drawing/2014/main" id="{5E956C95-EB63-4500-8A21-574FA613B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33737" y="1529655"/>
              <a:ext cx="133350" cy="152400"/>
            </a:xfrm>
            <a:prstGeom prst="rect">
              <a:avLst/>
            </a:prstGeom>
          </p:spPr>
        </p:pic>
        <p:pic>
          <p:nvPicPr>
            <p:cNvPr id="158" name="Picture 23" descr="image.png">
              <a:extLst>
                <a:ext uri="{FF2B5EF4-FFF2-40B4-BE49-F238E27FC236}">
                  <a16:creationId xmlns:a16="http://schemas.microsoft.com/office/drawing/2014/main" id="{7A547559-6DE5-4434-A56C-547FA68C2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78462" y="1529655"/>
              <a:ext cx="171450" cy="152400"/>
            </a:xfrm>
            <a:prstGeom prst="rect">
              <a:avLst/>
            </a:prstGeom>
          </p:spPr>
        </p:pic>
        <p:pic>
          <p:nvPicPr>
            <p:cNvPr id="159" name="Picture 24" descr="image.png">
              <a:extLst>
                <a:ext uri="{FF2B5EF4-FFF2-40B4-BE49-F238E27FC236}">
                  <a16:creationId xmlns:a16="http://schemas.microsoft.com/office/drawing/2014/main" id="{8164541F-98AA-46B5-9200-CF9C287D6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42236" y="1529655"/>
              <a:ext cx="171450" cy="152400"/>
            </a:xfrm>
            <a:prstGeom prst="rect">
              <a:avLst/>
            </a:prstGeom>
          </p:spPr>
        </p:pic>
        <p:pic>
          <p:nvPicPr>
            <p:cNvPr id="160" name="Picture 25" descr="image.png">
              <a:extLst>
                <a:ext uri="{FF2B5EF4-FFF2-40B4-BE49-F238E27FC236}">
                  <a16:creationId xmlns:a16="http://schemas.microsoft.com/office/drawing/2014/main" id="{DDA95664-1FBD-4FCE-B39A-94C58E773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806011" y="1529655"/>
              <a:ext cx="171450" cy="152400"/>
            </a:xfrm>
            <a:prstGeom prst="rect">
              <a:avLst/>
            </a:prstGeom>
          </p:spPr>
        </p:pic>
        <p:pic>
          <p:nvPicPr>
            <p:cNvPr id="161" name="Picture 26" descr="image.png">
              <a:extLst>
                <a:ext uri="{FF2B5EF4-FFF2-40B4-BE49-F238E27FC236}">
                  <a16:creationId xmlns:a16="http://schemas.microsoft.com/office/drawing/2014/main" id="{A396DC8A-B200-4AB4-87AE-9957C044B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60260" y="1529655"/>
              <a:ext cx="190500" cy="152400"/>
            </a:xfrm>
            <a:prstGeom prst="rect">
              <a:avLst/>
            </a:prstGeom>
          </p:spPr>
        </p:pic>
        <p:sp>
          <p:nvSpPr>
            <p:cNvPr id="162" name="TextBox 33">
              <a:extLst>
                <a:ext uri="{FF2B5EF4-FFF2-40B4-BE49-F238E27FC236}">
                  <a16:creationId xmlns:a16="http://schemas.microsoft.com/office/drawing/2014/main" id="{69154C31-4DB1-43E7-8321-397AB2249E0A}"/>
                </a:ext>
              </a:extLst>
            </p:cNvPr>
            <p:cNvSpPr txBox="1"/>
            <p:nvPr/>
          </p:nvSpPr>
          <p:spPr>
            <a:xfrm>
              <a:off x="414728" y="1739205"/>
              <a:ext cx="2043968" cy="1238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25" b="1" i="0" u="none" dirty="0">
                  <a:solidFill>
                    <a:srgbClr val="334155"/>
                  </a:solidFill>
                  <a:latin typeface="Plus Jakarta Sans"/>
                </a:rPr>
                <a:t>1. </a:t>
              </a:r>
              <a:r>
                <a:rPr sz="825" b="1" i="0" u="none" dirty="0" err="1">
                  <a:solidFill>
                    <a:srgbClr val="334155"/>
                  </a:solidFill>
                  <a:latin typeface="Plus Jakarta Sans"/>
                </a:rPr>
                <a:t>Cadastro</a:t>
              </a:r>
              <a:endParaRPr sz="825" b="1" i="0" u="none" dirty="0">
                <a:solidFill>
                  <a:srgbClr val="334155"/>
                </a:solidFill>
                <a:latin typeface="Plus Jakarta Sans"/>
              </a:endParaRPr>
            </a:p>
          </p:txBody>
        </p:sp>
        <p:sp>
          <p:nvSpPr>
            <p:cNvPr id="163" name="TextBox 34">
              <a:extLst>
                <a:ext uri="{FF2B5EF4-FFF2-40B4-BE49-F238E27FC236}">
                  <a16:creationId xmlns:a16="http://schemas.microsoft.com/office/drawing/2014/main" id="{A3D9C951-3B0C-4D46-9FD5-82C8ABF79DB5}"/>
                </a:ext>
              </a:extLst>
            </p:cNvPr>
            <p:cNvSpPr txBox="1"/>
            <p:nvPr/>
          </p:nvSpPr>
          <p:spPr>
            <a:xfrm>
              <a:off x="2278502" y="1739205"/>
              <a:ext cx="2043968" cy="1238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25" b="1" i="0" u="none">
                  <a:solidFill>
                    <a:srgbClr val="334155"/>
                  </a:solidFill>
                  <a:latin typeface="Plus Jakarta Sans"/>
                </a:rPr>
                <a:t>2. Reserva</a:t>
              </a:r>
            </a:p>
          </p:txBody>
        </p:sp>
        <p:sp>
          <p:nvSpPr>
            <p:cNvPr id="164" name="TextBox 35">
              <a:extLst>
                <a:ext uri="{FF2B5EF4-FFF2-40B4-BE49-F238E27FC236}">
                  <a16:creationId xmlns:a16="http://schemas.microsoft.com/office/drawing/2014/main" id="{D46B641D-7D3D-48A7-A48D-7E46CD76BA5C}"/>
                </a:ext>
              </a:extLst>
            </p:cNvPr>
            <p:cNvSpPr txBox="1"/>
            <p:nvPr/>
          </p:nvSpPr>
          <p:spPr>
            <a:xfrm>
              <a:off x="4142277" y="1739205"/>
              <a:ext cx="2043968" cy="1238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25" b="1" i="0" u="none">
                  <a:solidFill>
                    <a:srgbClr val="334155"/>
                  </a:solidFill>
                  <a:latin typeface="Plus Jakarta Sans"/>
                </a:rPr>
                <a:t>3. Cobrança</a:t>
              </a:r>
            </a:p>
          </p:txBody>
        </p:sp>
        <p:sp>
          <p:nvSpPr>
            <p:cNvPr id="165" name="TextBox 36">
              <a:extLst>
                <a:ext uri="{FF2B5EF4-FFF2-40B4-BE49-F238E27FC236}">
                  <a16:creationId xmlns:a16="http://schemas.microsoft.com/office/drawing/2014/main" id="{7B20352C-6362-4CC0-9E51-81AFD8733301}"/>
                </a:ext>
              </a:extLst>
            </p:cNvPr>
            <p:cNvSpPr txBox="1"/>
            <p:nvPr/>
          </p:nvSpPr>
          <p:spPr>
            <a:xfrm>
              <a:off x="6006052" y="1739205"/>
              <a:ext cx="2043968" cy="1238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25" b="1" i="0" u="none">
                  <a:solidFill>
                    <a:srgbClr val="334155"/>
                  </a:solidFill>
                  <a:latin typeface="Plus Jakarta Sans"/>
                </a:rPr>
                <a:t>4. Check-in/out</a:t>
              </a:r>
            </a:p>
          </p:txBody>
        </p:sp>
        <p:sp>
          <p:nvSpPr>
            <p:cNvPr id="166" name="TextBox 37">
              <a:extLst>
                <a:ext uri="{FF2B5EF4-FFF2-40B4-BE49-F238E27FC236}">
                  <a16:creationId xmlns:a16="http://schemas.microsoft.com/office/drawing/2014/main" id="{1C4771D5-C03F-4206-B09F-F4CC32AFB6B9}"/>
                </a:ext>
              </a:extLst>
            </p:cNvPr>
            <p:cNvSpPr txBox="1"/>
            <p:nvPr/>
          </p:nvSpPr>
          <p:spPr>
            <a:xfrm>
              <a:off x="7869826" y="1739205"/>
              <a:ext cx="2043968" cy="1238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25" b="1" i="0" u="none">
                  <a:solidFill>
                    <a:srgbClr val="334155"/>
                  </a:solidFill>
                  <a:latin typeface="Plus Jakarta Sans"/>
                </a:rPr>
                <a:t>5. Limpeza</a:t>
              </a:r>
            </a:p>
          </p:txBody>
        </p:sp>
        <p:sp>
          <p:nvSpPr>
            <p:cNvPr id="167" name="TextBox 38">
              <a:extLst>
                <a:ext uri="{FF2B5EF4-FFF2-40B4-BE49-F238E27FC236}">
                  <a16:creationId xmlns:a16="http://schemas.microsoft.com/office/drawing/2014/main" id="{DC2C7261-2732-4F14-A322-DEDD0A2C5790}"/>
                </a:ext>
              </a:extLst>
            </p:cNvPr>
            <p:cNvSpPr txBox="1"/>
            <p:nvPr/>
          </p:nvSpPr>
          <p:spPr>
            <a:xfrm>
              <a:off x="9733601" y="1739205"/>
              <a:ext cx="2043968" cy="1238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25" b="1" i="0" u="none">
                  <a:solidFill>
                    <a:srgbClr val="334155"/>
                  </a:solidFill>
                  <a:latin typeface="Plus Jakarta Sans"/>
                </a:rPr>
                <a:t>6. Estoque</a:t>
              </a:r>
            </a:p>
          </p:txBody>
        </p:sp>
      </p:grpSp>
      <p:sp>
        <p:nvSpPr>
          <p:cNvPr id="168" name="TextBox 30">
            <a:extLst>
              <a:ext uri="{FF2B5EF4-FFF2-40B4-BE49-F238E27FC236}">
                <a16:creationId xmlns:a16="http://schemas.microsoft.com/office/drawing/2014/main" id="{3DA0AC99-C539-4AF6-81D7-C42AA8B6E1A2}"/>
              </a:ext>
            </a:extLst>
          </p:cNvPr>
          <p:cNvSpPr txBox="1"/>
          <p:nvPr/>
        </p:nvSpPr>
        <p:spPr>
          <a:xfrm>
            <a:off x="476249" y="850278"/>
            <a:ext cx="11301319" cy="294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pt-BR" sz="1600" b="1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Processos Mapeados</a:t>
            </a:r>
            <a:endParaRPr sz="1600" b="1" i="0" u="none" dirty="0">
              <a:solidFill>
                <a:schemeClr val="tx1">
                  <a:lumMod val="50000"/>
                  <a:lumOff val="50000"/>
                </a:schemeClr>
              </a:solidFill>
              <a:latin typeface="Plus Jakarta Sans"/>
            </a:endParaRPr>
          </a:p>
        </p:txBody>
      </p:sp>
      <p:sp>
        <p:nvSpPr>
          <p:cNvPr id="145" name="Retângulo 144">
            <a:extLst>
              <a:ext uri="{FF2B5EF4-FFF2-40B4-BE49-F238E27FC236}">
                <a16:creationId xmlns:a16="http://schemas.microsoft.com/office/drawing/2014/main" id="{F18F049D-836F-43A1-A195-8E148D1BAE75}"/>
              </a:ext>
            </a:extLst>
          </p:cNvPr>
          <p:cNvSpPr/>
          <p:nvPr/>
        </p:nvSpPr>
        <p:spPr>
          <a:xfrm>
            <a:off x="0" y="0"/>
            <a:ext cx="8877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ounded Rectangle 1">
            <a:extLst>
              <a:ext uri="{FF2B5EF4-FFF2-40B4-BE49-F238E27FC236}">
                <a16:creationId xmlns:a16="http://schemas.microsoft.com/office/drawing/2014/main" id="{E39E96C4-889F-4BFB-83A0-C8BAB183C25B}"/>
              </a:ext>
            </a:extLst>
          </p:cNvPr>
          <p:cNvSpPr/>
          <p:nvPr/>
        </p:nvSpPr>
        <p:spPr>
          <a:xfrm>
            <a:off x="3305175" y="2579686"/>
            <a:ext cx="2758374" cy="1047598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7" name="Rectangle 4">
            <a:extLst>
              <a:ext uri="{FF2B5EF4-FFF2-40B4-BE49-F238E27FC236}">
                <a16:creationId xmlns:a16="http://schemas.microsoft.com/office/drawing/2014/main" id="{B8C492CE-9761-437D-B825-51C2FE640698}"/>
              </a:ext>
            </a:extLst>
          </p:cNvPr>
          <p:cNvSpPr/>
          <p:nvPr/>
        </p:nvSpPr>
        <p:spPr>
          <a:xfrm>
            <a:off x="3469260" y="3244438"/>
            <a:ext cx="45719" cy="36812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ounded Rectangle 7">
            <a:extLst>
              <a:ext uri="{FF2B5EF4-FFF2-40B4-BE49-F238E27FC236}">
                <a16:creationId xmlns:a16="http://schemas.microsoft.com/office/drawing/2014/main" id="{7E2D739E-F1C8-4553-891C-41A7F95908F2}"/>
              </a:ext>
            </a:extLst>
          </p:cNvPr>
          <p:cNvSpPr/>
          <p:nvPr/>
        </p:nvSpPr>
        <p:spPr>
          <a:xfrm>
            <a:off x="3466569" y="2847099"/>
            <a:ext cx="2435585" cy="368126"/>
          </a:xfrm>
          <a:prstGeom prst="roundRect">
            <a:avLst>
              <a:gd name="adj" fmla="val 5194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8">
            <a:extLst>
              <a:ext uri="{FF2B5EF4-FFF2-40B4-BE49-F238E27FC236}">
                <a16:creationId xmlns:a16="http://schemas.microsoft.com/office/drawing/2014/main" id="{BC39BBBE-9A78-4E70-9590-8F9827D88037}"/>
              </a:ext>
            </a:extLst>
          </p:cNvPr>
          <p:cNvSpPr/>
          <p:nvPr/>
        </p:nvSpPr>
        <p:spPr>
          <a:xfrm>
            <a:off x="3466569" y="2847098"/>
            <a:ext cx="45719" cy="368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9">
            <a:extLst>
              <a:ext uri="{FF2B5EF4-FFF2-40B4-BE49-F238E27FC236}">
                <a16:creationId xmlns:a16="http://schemas.microsoft.com/office/drawing/2014/main" id="{BB2525DE-3652-4720-9266-6D37D474158A}"/>
              </a:ext>
            </a:extLst>
          </p:cNvPr>
          <p:cNvSpPr txBox="1"/>
          <p:nvPr/>
        </p:nvSpPr>
        <p:spPr>
          <a:xfrm>
            <a:off x="3547800" y="2849855"/>
            <a:ext cx="2327989" cy="124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991B1B"/>
                </a:solidFill>
                <a:latin typeface="Plus Jakarta Sans"/>
              </a:rPr>
              <a:t>PROBLEMA</a:t>
            </a:r>
          </a:p>
        </p:txBody>
      </p:sp>
      <p:sp>
        <p:nvSpPr>
          <p:cNvPr id="171" name="TextBox 23">
            <a:extLst>
              <a:ext uri="{FF2B5EF4-FFF2-40B4-BE49-F238E27FC236}">
                <a16:creationId xmlns:a16="http://schemas.microsoft.com/office/drawing/2014/main" id="{8FF6AC05-C2EC-4800-92E8-F3C72349C8A5}"/>
              </a:ext>
            </a:extLst>
          </p:cNvPr>
          <p:cNvSpPr txBox="1"/>
          <p:nvPr/>
        </p:nvSpPr>
        <p:spPr>
          <a:xfrm>
            <a:off x="3619501" y="2585589"/>
            <a:ext cx="103504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500" b="1" i="0" u="none" dirty="0">
                <a:solidFill>
                  <a:srgbClr val="1E1B4B"/>
                </a:solidFill>
                <a:latin typeface="Plus Jakarta Sans"/>
              </a:rPr>
              <a:t>Operação</a:t>
            </a:r>
            <a:endParaRPr sz="1500" b="1" i="0" u="none" dirty="0">
              <a:solidFill>
                <a:srgbClr val="1E1B4B"/>
              </a:solidFill>
              <a:latin typeface="Plus Jakarta Sans"/>
            </a:endParaRPr>
          </a:p>
        </p:txBody>
      </p:sp>
      <p:sp>
        <p:nvSpPr>
          <p:cNvPr id="172" name="TextBox 24">
            <a:extLst>
              <a:ext uri="{FF2B5EF4-FFF2-40B4-BE49-F238E27FC236}">
                <a16:creationId xmlns:a16="http://schemas.microsoft.com/office/drawing/2014/main" id="{FA5A148E-2144-485D-8423-E5C3CE4ACA77}"/>
              </a:ext>
            </a:extLst>
          </p:cNvPr>
          <p:cNvSpPr txBox="1"/>
          <p:nvPr/>
        </p:nvSpPr>
        <p:spPr>
          <a:xfrm>
            <a:off x="3604256" y="3010006"/>
            <a:ext cx="238667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u="none" dirty="0" err="1">
                <a:solidFill>
                  <a:srgbClr val="7F1D1D"/>
                </a:solidFill>
                <a:latin typeface="Plus Jakarta Sans"/>
              </a:rPr>
              <a:t>Check-out</a:t>
            </a:r>
            <a:r>
              <a:rPr lang="pt-BR" sz="1000" b="0" i="0" u="none" dirty="0">
                <a:solidFill>
                  <a:srgbClr val="7F1D1D"/>
                </a:solidFill>
                <a:latin typeface="Plus Jakarta Sans"/>
              </a:rPr>
              <a:t> manual</a:t>
            </a:r>
            <a:endParaRPr sz="1000" b="0" i="0" u="none" dirty="0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173" name="Rounded Rectangle 5">
            <a:extLst>
              <a:ext uri="{FF2B5EF4-FFF2-40B4-BE49-F238E27FC236}">
                <a16:creationId xmlns:a16="http://schemas.microsoft.com/office/drawing/2014/main" id="{8A9F3E9E-0BF9-4008-B282-F5BAA4B52D3F}"/>
              </a:ext>
            </a:extLst>
          </p:cNvPr>
          <p:cNvSpPr/>
          <p:nvPr/>
        </p:nvSpPr>
        <p:spPr>
          <a:xfrm>
            <a:off x="3519539" y="3256997"/>
            <a:ext cx="2382615" cy="355566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4" name="TextBox 17">
            <a:extLst>
              <a:ext uri="{FF2B5EF4-FFF2-40B4-BE49-F238E27FC236}">
                <a16:creationId xmlns:a16="http://schemas.microsoft.com/office/drawing/2014/main" id="{1C941DBF-8C9E-4CB0-9761-0E075525A1AB}"/>
              </a:ext>
            </a:extLst>
          </p:cNvPr>
          <p:cNvSpPr txBox="1"/>
          <p:nvPr/>
        </p:nvSpPr>
        <p:spPr>
          <a:xfrm>
            <a:off x="3555773" y="3228190"/>
            <a:ext cx="232798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66534"/>
                </a:solidFill>
                <a:latin typeface="Plus Jakarta Sans"/>
              </a:rPr>
              <a:t>SOLUÇÃO ERP</a:t>
            </a:r>
            <a:endParaRPr lang="pt-BR" sz="1050" b="1" i="0" u="none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175" name="TextBox 20">
            <a:extLst>
              <a:ext uri="{FF2B5EF4-FFF2-40B4-BE49-F238E27FC236}">
                <a16:creationId xmlns:a16="http://schemas.microsoft.com/office/drawing/2014/main" id="{899EA0FC-47A3-44C3-BDA2-4CFEB36C2F97}"/>
              </a:ext>
            </a:extLst>
          </p:cNvPr>
          <p:cNvSpPr txBox="1"/>
          <p:nvPr/>
        </p:nvSpPr>
        <p:spPr>
          <a:xfrm>
            <a:off x="3601068" y="3401257"/>
            <a:ext cx="2395859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u="none" dirty="0" err="1">
                <a:solidFill>
                  <a:srgbClr val="14532D"/>
                </a:solidFill>
                <a:latin typeface="Plus Jakarta Sans"/>
              </a:rPr>
              <a:t>Check-out</a:t>
            </a:r>
            <a:r>
              <a:rPr lang="pt-BR" sz="1000" b="0" i="0" u="none" dirty="0">
                <a:solidFill>
                  <a:srgbClr val="14532D"/>
                </a:solidFill>
                <a:latin typeface="Plus Jakarta Sans"/>
              </a:rPr>
              <a:t> automático</a:t>
            </a:r>
            <a:endParaRPr sz="1000" b="0" i="0" u="none" dirty="0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5940028"/>
            <a:ext cx="11277600" cy="53697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940028"/>
            <a:ext cx="38100" cy="53697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7255"/>
            <a:ext cx="2733675" cy="47625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05175" y="1377255"/>
            <a:ext cx="2733675" cy="47625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53150" y="1377255"/>
            <a:ext cx="2733675" cy="47625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01125" y="1377255"/>
            <a:ext cx="2733675" cy="47625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967805"/>
            <a:ext cx="2733675" cy="47625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05175" y="1967805"/>
            <a:ext cx="2733675" cy="47625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150" y="1967805"/>
            <a:ext cx="2733675" cy="47625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01125" y="1967805"/>
            <a:ext cx="2733675" cy="47625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515367"/>
            <a:ext cx="152400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15367"/>
            <a:ext cx="152400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1515367"/>
            <a:ext cx="95250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4950" y="1515367"/>
            <a:ext cx="10477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105917"/>
            <a:ext cx="1238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105917"/>
            <a:ext cx="1428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975" y="2105917"/>
            <a:ext cx="9525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4950" y="2105917"/>
            <a:ext cx="104775" cy="1238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6035278"/>
            <a:ext cx="11068050" cy="16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pt-BR" sz="975" b="1" i="0" u="none" dirty="0">
                <a:solidFill>
                  <a:srgbClr val="1E293B"/>
                </a:solidFill>
                <a:latin typeface="Plus Jakarta Sans"/>
              </a:rPr>
              <a:t>Observação</a:t>
            </a:r>
            <a:r>
              <a:rPr sz="975" b="1" i="0" u="none" dirty="0">
                <a:solidFill>
                  <a:srgbClr val="1E293B"/>
                </a:solidFill>
                <a:latin typeface="Plus Jakarta Sans"/>
              </a:rPr>
              <a:t>: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"A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solução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estrutura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o ERP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em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8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módulos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integrados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. O banco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relacional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é a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espinha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dorsal: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ao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realizar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um check-out, o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sistema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agenda a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limpeza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e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atualiza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o estoque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sem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intervenção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manual."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ARQUITETURA DE SOLUÇÃO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9600"/>
            <a:ext cx="4874540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Solução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Proposta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pt-BR" sz="2100" b="1" i="0" u="none" dirty="0">
                <a:solidFill>
                  <a:srgbClr val="0F172A"/>
                </a:solidFill>
                <a:latin typeface="Plus Jakarta Sans"/>
              </a:rPr>
              <a:t>e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Estrutura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em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8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Módulos</a:t>
            </a:r>
            <a:endParaRPr sz="21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96768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Banco de dados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relacional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centralizado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para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automação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e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consistência</a:t>
            </a:r>
            <a:endParaRPr sz="1125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8675" y="1501080"/>
            <a:ext cx="2859881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Acessos e Perfis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6650" y="1501080"/>
            <a:ext cx="2859881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Pessoas e Clientes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7475" y="1501080"/>
            <a:ext cx="2917031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Imóveis e Salas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4975" y="1501080"/>
            <a:ext cx="286702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Reservas e Check-in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" y="2091630"/>
            <a:ext cx="2888456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Limpeza e Serv.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67125" y="2091630"/>
            <a:ext cx="2869406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Estoque e Compras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7475" y="2091630"/>
            <a:ext cx="2917031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Financeiro</a:t>
            </a:r>
          </a:p>
        </p:txBody>
      </p:sp>
      <p:sp>
        <p:nvSpPr>
          <p:cNvPr id="66" name="Rounded Rectangle 3">
            <a:extLst>
              <a:ext uri="{FF2B5EF4-FFF2-40B4-BE49-F238E27FC236}">
                <a16:creationId xmlns:a16="http://schemas.microsoft.com/office/drawing/2014/main" id="{5ECC05B7-81AB-4777-8284-65C879039B78}"/>
              </a:ext>
            </a:extLst>
          </p:cNvPr>
          <p:cNvSpPr/>
          <p:nvPr/>
        </p:nvSpPr>
        <p:spPr>
          <a:xfrm>
            <a:off x="685524" y="3234095"/>
            <a:ext cx="2435585" cy="376501"/>
          </a:xfrm>
          <a:prstGeom prst="roundRect">
            <a:avLst>
              <a:gd name="adj" fmla="val 5194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9324975" y="2091630"/>
            <a:ext cx="286702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Taxas e Políticas</a:t>
            </a:r>
          </a:p>
        </p:txBody>
      </p:sp>
      <p:pic>
        <p:nvPicPr>
          <p:cNvPr id="56" name="Imagem 55">
            <a:extLst>
              <a:ext uri="{FF2B5EF4-FFF2-40B4-BE49-F238E27FC236}">
                <a16:creationId xmlns:a16="http://schemas.microsoft.com/office/drawing/2014/main" id="{05414602-F605-4009-AA42-10072680DD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9480" y="2562225"/>
            <a:ext cx="5560899" cy="3103757"/>
          </a:xfrm>
          <a:prstGeom prst="rect">
            <a:avLst/>
          </a:prstGeom>
        </p:spPr>
      </p:pic>
      <p:sp>
        <p:nvSpPr>
          <p:cNvPr id="64" name="Rounded Rectangle 1">
            <a:extLst>
              <a:ext uri="{FF2B5EF4-FFF2-40B4-BE49-F238E27FC236}">
                <a16:creationId xmlns:a16="http://schemas.microsoft.com/office/drawing/2014/main" id="{0A7B6C71-BB10-416F-AAB7-992D8E7FC903}"/>
              </a:ext>
            </a:extLst>
          </p:cNvPr>
          <p:cNvSpPr/>
          <p:nvPr/>
        </p:nvSpPr>
        <p:spPr>
          <a:xfrm>
            <a:off x="458882" y="2573783"/>
            <a:ext cx="2758374" cy="1047598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7" name="Rectangle 4">
            <a:extLst>
              <a:ext uri="{FF2B5EF4-FFF2-40B4-BE49-F238E27FC236}">
                <a16:creationId xmlns:a16="http://schemas.microsoft.com/office/drawing/2014/main" id="{FC4E3532-2EC0-473B-AB3C-1170964BA2DE}"/>
              </a:ext>
            </a:extLst>
          </p:cNvPr>
          <p:cNvSpPr/>
          <p:nvPr/>
        </p:nvSpPr>
        <p:spPr>
          <a:xfrm>
            <a:off x="622967" y="3238535"/>
            <a:ext cx="45719" cy="36812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">
            <a:extLst>
              <a:ext uri="{FF2B5EF4-FFF2-40B4-BE49-F238E27FC236}">
                <a16:creationId xmlns:a16="http://schemas.microsoft.com/office/drawing/2014/main" id="{7C5D93E4-3BDB-46C7-8081-05FA1D4D8C28}"/>
              </a:ext>
            </a:extLst>
          </p:cNvPr>
          <p:cNvSpPr/>
          <p:nvPr/>
        </p:nvSpPr>
        <p:spPr>
          <a:xfrm>
            <a:off x="620276" y="2841196"/>
            <a:ext cx="2435585" cy="368126"/>
          </a:xfrm>
          <a:prstGeom prst="roundRect">
            <a:avLst>
              <a:gd name="adj" fmla="val 5194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8">
            <a:extLst>
              <a:ext uri="{FF2B5EF4-FFF2-40B4-BE49-F238E27FC236}">
                <a16:creationId xmlns:a16="http://schemas.microsoft.com/office/drawing/2014/main" id="{7466D478-BF4E-41A3-AE41-20CFBD94E31E}"/>
              </a:ext>
            </a:extLst>
          </p:cNvPr>
          <p:cNvSpPr/>
          <p:nvPr/>
        </p:nvSpPr>
        <p:spPr>
          <a:xfrm>
            <a:off x="620276" y="2841195"/>
            <a:ext cx="45719" cy="368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19">
            <a:extLst>
              <a:ext uri="{FF2B5EF4-FFF2-40B4-BE49-F238E27FC236}">
                <a16:creationId xmlns:a16="http://schemas.microsoft.com/office/drawing/2014/main" id="{47B893D3-D7B0-4CAB-9164-B0A6BD479FAE}"/>
              </a:ext>
            </a:extLst>
          </p:cNvPr>
          <p:cNvSpPr txBox="1"/>
          <p:nvPr/>
        </p:nvSpPr>
        <p:spPr>
          <a:xfrm>
            <a:off x="701507" y="2843952"/>
            <a:ext cx="2327989" cy="124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991B1B"/>
                </a:solidFill>
                <a:latin typeface="Plus Jakarta Sans"/>
              </a:rPr>
              <a:t>PROBLEMA</a:t>
            </a:r>
          </a:p>
        </p:txBody>
      </p:sp>
      <p:sp>
        <p:nvSpPr>
          <p:cNvPr id="88" name="TextBox 23">
            <a:extLst>
              <a:ext uri="{FF2B5EF4-FFF2-40B4-BE49-F238E27FC236}">
                <a16:creationId xmlns:a16="http://schemas.microsoft.com/office/drawing/2014/main" id="{A789B567-E5D2-4712-AC51-170F3CFB6580}"/>
              </a:ext>
            </a:extLst>
          </p:cNvPr>
          <p:cNvSpPr txBox="1"/>
          <p:nvPr/>
        </p:nvSpPr>
        <p:spPr>
          <a:xfrm>
            <a:off x="773208" y="2579686"/>
            <a:ext cx="60396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E1B4B"/>
                </a:solidFill>
                <a:latin typeface="Plus Jakarta Sans"/>
              </a:rPr>
              <a:t>Agenda</a:t>
            </a:r>
          </a:p>
        </p:txBody>
      </p:sp>
      <p:sp>
        <p:nvSpPr>
          <p:cNvPr id="89" name="TextBox 24">
            <a:extLst>
              <a:ext uri="{FF2B5EF4-FFF2-40B4-BE49-F238E27FC236}">
                <a16:creationId xmlns:a16="http://schemas.microsoft.com/office/drawing/2014/main" id="{EEC1E51D-E304-4D79-BC2A-2EA56D3458B5}"/>
              </a:ext>
            </a:extLst>
          </p:cNvPr>
          <p:cNvSpPr txBox="1"/>
          <p:nvPr/>
        </p:nvSpPr>
        <p:spPr>
          <a:xfrm>
            <a:off x="757963" y="3004103"/>
            <a:ext cx="238667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u="none" dirty="0" err="1">
                <a:solidFill>
                  <a:srgbClr val="7F1D1D"/>
                </a:solidFill>
                <a:latin typeface="Plus Jakarta Sans"/>
              </a:rPr>
              <a:t>Planilhas</a:t>
            </a:r>
            <a:r>
              <a:rPr sz="1000" b="0" i="0" u="none" dirty="0">
                <a:solidFill>
                  <a:srgbClr val="7F1D1D"/>
                </a:solidFill>
                <a:latin typeface="Plus Jakarta Sans"/>
              </a:rPr>
              <a:t>, overbooking e </a:t>
            </a:r>
            <a:r>
              <a:rPr sz="1000" b="0" i="0" u="none" dirty="0" err="1">
                <a:solidFill>
                  <a:srgbClr val="7F1D1D"/>
                </a:solidFill>
                <a:latin typeface="Plus Jakarta Sans"/>
              </a:rPr>
              <a:t>choque</a:t>
            </a:r>
            <a:endParaRPr sz="1000" b="0" i="0" u="none" dirty="0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164" name="Rounded Rectangle 5">
            <a:extLst>
              <a:ext uri="{FF2B5EF4-FFF2-40B4-BE49-F238E27FC236}">
                <a16:creationId xmlns:a16="http://schemas.microsoft.com/office/drawing/2014/main" id="{BF93B993-60C1-4F39-A65C-7614FDB61B5B}"/>
              </a:ext>
            </a:extLst>
          </p:cNvPr>
          <p:cNvSpPr/>
          <p:nvPr/>
        </p:nvSpPr>
        <p:spPr>
          <a:xfrm>
            <a:off x="673246" y="3251094"/>
            <a:ext cx="2382615" cy="355566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2" name="TextBox 17">
            <a:extLst>
              <a:ext uri="{FF2B5EF4-FFF2-40B4-BE49-F238E27FC236}">
                <a16:creationId xmlns:a16="http://schemas.microsoft.com/office/drawing/2014/main" id="{D080C17D-52AE-4B16-94C3-597516650947}"/>
              </a:ext>
            </a:extLst>
          </p:cNvPr>
          <p:cNvSpPr txBox="1"/>
          <p:nvPr/>
        </p:nvSpPr>
        <p:spPr>
          <a:xfrm>
            <a:off x="709480" y="3222287"/>
            <a:ext cx="232798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66534"/>
                </a:solidFill>
                <a:latin typeface="Plus Jakarta Sans"/>
              </a:rPr>
              <a:t>SOLUÇÃO ERP</a:t>
            </a:r>
            <a:endParaRPr lang="pt-BR" sz="1050" b="1" i="0" u="none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85" name="TextBox 20">
            <a:extLst>
              <a:ext uri="{FF2B5EF4-FFF2-40B4-BE49-F238E27FC236}">
                <a16:creationId xmlns:a16="http://schemas.microsoft.com/office/drawing/2014/main" id="{2446DA8F-B54F-4F06-A529-4C6DB5307E1E}"/>
              </a:ext>
            </a:extLst>
          </p:cNvPr>
          <p:cNvSpPr txBox="1"/>
          <p:nvPr/>
        </p:nvSpPr>
        <p:spPr>
          <a:xfrm>
            <a:off x="754775" y="3395354"/>
            <a:ext cx="2395859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u="none" dirty="0" err="1">
                <a:solidFill>
                  <a:srgbClr val="14532D"/>
                </a:solidFill>
                <a:latin typeface="Plus Jakarta Sans"/>
              </a:rPr>
              <a:t>Reservas</a:t>
            </a:r>
            <a:r>
              <a:rPr sz="1000" b="0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sz="1000" b="0" i="0" u="none" dirty="0" err="1">
                <a:solidFill>
                  <a:srgbClr val="14532D"/>
                </a:solidFill>
                <a:latin typeface="Plus Jakarta Sans"/>
              </a:rPr>
              <a:t>centralizadas</a:t>
            </a:r>
            <a:endParaRPr sz="1000" b="0" i="0" u="none" dirty="0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177" name="Rounded Rectangle 1">
            <a:extLst>
              <a:ext uri="{FF2B5EF4-FFF2-40B4-BE49-F238E27FC236}">
                <a16:creationId xmlns:a16="http://schemas.microsoft.com/office/drawing/2014/main" id="{AF04F4F4-8FD9-4F17-A702-ED9884398410}"/>
              </a:ext>
            </a:extLst>
          </p:cNvPr>
          <p:cNvSpPr/>
          <p:nvPr/>
        </p:nvSpPr>
        <p:spPr>
          <a:xfrm>
            <a:off x="3329082" y="3722012"/>
            <a:ext cx="2758374" cy="1047598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8" name="Rectangle 4">
            <a:extLst>
              <a:ext uri="{FF2B5EF4-FFF2-40B4-BE49-F238E27FC236}">
                <a16:creationId xmlns:a16="http://schemas.microsoft.com/office/drawing/2014/main" id="{E58C3F4C-DE60-40EF-81DF-AB617AF7C555}"/>
              </a:ext>
            </a:extLst>
          </p:cNvPr>
          <p:cNvSpPr/>
          <p:nvPr/>
        </p:nvSpPr>
        <p:spPr>
          <a:xfrm>
            <a:off x="3493167" y="4386764"/>
            <a:ext cx="45719" cy="36812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ounded Rectangle 7">
            <a:extLst>
              <a:ext uri="{FF2B5EF4-FFF2-40B4-BE49-F238E27FC236}">
                <a16:creationId xmlns:a16="http://schemas.microsoft.com/office/drawing/2014/main" id="{7BBC81C2-F5F5-4EDC-A5AD-8F1FA87DEAD7}"/>
              </a:ext>
            </a:extLst>
          </p:cNvPr>
          <p:cNvSpPr/>
          <p:nvPr/>
        </p:nvSpPr>
        <p:spPr>
          <a:xfrm>
            <a:off x="3490476" y="3989425"/>
            <a:ext cx="2435585" cy="368126"/>
          </a:xfrm>
          <a:prstGeom prst="roundRect">
            <a:avLst>
              <a:gd name="adj" fmla="val 5194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8">
            <a:extLst>
              <a:ext uri="{FF2B5EF4-FFF2-40B4-BE49-F238E27FC236}">
                <a16:creationId xmlns:a16="http://schemas.microsoft.com/office/drawing/2014/main" id="{65ED20B6-6E53-4A56-A21F-5BBBCFC3D8C8}"/>
              </a:ext>
            </a:extLst>
          </p:cNvPr>
          <p:cNvSpPr/>
          <p:nvPr/>
        </p:nvSpPr>
        <p:spPr>
          <a:xfrm>
            <a:off x="3490476" y="3989424"/>
            <a:ext cx="45719" cy="368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9">
            <a:extLst>
              <a:ext uri="{FF2B5EF4-FFF2-40B4-BE49-F238E27FC236}">
                <a16:creationId xmlns:a16="http://schemas.microsoft.com/office/drawing/2014/main" id="{0D745310-EDAA-4890-8CC1-D232DFCCF006}"/>
              </a:ext>
            </a:extLst>
          </p:cNvPr>
          <p:cNvSpPr txBox="1"/>
          <p:nvPr/>
        </p:nvSpPr>
        <p:spPr>
          <a:xfrm>
            <a:off x="3571707" y="3992181"/>
            <a:ext cx="2327989" cy="124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991B1B"/>
                </a:solidFill>
                <a:latin typeface="Plus Jakarta Sans"/>
              </a:rPr>
              <a:t>PROBLEMA</a:t>
            </a:r>
          </a:p>
        </p:txBody>
      </p:sp>
      <p:sp>
        <p:nvSpPr>
          <p:cNvPr id="182" name="TextBox 23">
            <a:extLst>
              <a:ext uri="{FF2B5EF4-FFF2-40B4-BE49-F238E27FC236}">
                <a16:creationId xmlns:a16="http://schemas.microsoft.com/office/drawing/2014/main" id="{1BC2A38B-ED8A-415B-BAF1-A2A6EA9CF711}"/>
              </a:ext>
            </a:extLst>
          </p:cNvPr>
          <p:cNvSpPr txBox="1"/>
          <p:nvPr/>
        </p:nvSpPr>
        <p:spPr>
          <a:xfrm>
            <a:off x="3643408" y="3727915"/>
            <a:ext cx="118259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500" b="1" i="0" u="none" dirty="0">
                <a:solidFill>
                  <a:srgbClr val="1E1B4B"/>
                </a:solidFill>
                <a:latin typeface="Plus Jakarta Sans"/>
              </a:rPr>
              <a:t>Manutenção</a:t>
            </a:r>
            <a:endParaRPr sz="1500" b="1" i="0" u="none" dirty="0">
              <a:solidFill>
                <a:srgbClr val="1E1B4B"/>
              </a:solidFill>
              <a:latin typeface="Plus Jakarta Sans"/>
            </a:endParaRPr>
          </a:p>
        </p:txBody>
      </p:sp>
      <p:sp>
        <p:nvSpPr>
          <p:cNvPr id="183" name="TextBox 24">
            <a:extLst>
              <a:ext uri="{FF2B5EF4-FFF2-40B4-BE49-F238E27FC236}">
                <a16:creationId xmlns:a16="http://schemas.microsoft.com/office/drawing/2014/main" id="{3A5FF73E-BEA3-4737-9283-32870FF89DB5}"/>
              </a:ext>
            </a:extLst>
          </p:cNvPr>
          <p:cNvSpPr txBox="1"/>
          <p:nvPr/>
        </p:nvSpPr>
        <p:spPr>
          <a:xfrm>
            <a:off x="3628163" y="4152332"/>
            <a:ext cx="238667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u="none" dirty="0">
                <a:solidFill>
                  <a:srgbClr val="7F1D1D"/>
                </a:solidFill>
                <a:latin typeface="Plus Jakarta Sans"/>
              </a:rPr>
              <a:t>Sem histórico</a:t>
            </a:r>
            <a:endParaRPr sz="1000" b="0" i="0" u="none" dirty="0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184" name="Rounded Rectangle 5">
            <a:extLst>
              <a:ext uri="{FF2B5EF4-FFF2-40B4-BE49-F238E27FC236}">
                <a16:creationId xmlns:a16="http://schemas.microsoft.com/office/drawing/2014/main" id="{222771D2-0A86-435F-8314-1AE365CA9892}"/>
              </a:ext>
            </a:extLst>
          </p:cNvPr>
          <p:cNvSpPr/>
          <p:nvPr/>
        </p:nvSpPr>
        <p:spPr>
          <a:xfrm>
            <a:off x="3543446" y="4399323"/>
            <a:ext cx="2382615" cy="355566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5" name="TextBox 17">
            <a:extLst>
              <a:ext uri="{FF2B5EF4-FFF2-40B4-BE49-F238E27FC236}">
                <a16:creationId xmlns:a16="http://schemas.microsoft.com/office/drawing/2014/main" id="{35B7F483-2B78-4664-8165-214A72CDD8FA}"/>
              </a:ext>
            </a:extLst>
          </p:cNvPr>
          <p:cNvSpPr txBox="1"/>
          <p:nvPr/>
        </p:nvSpPr>
        <p:spPr>
          <a:xfrm>
            <a:off x="3579680" y="4370516"/>
            <a:ext cx="232798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66534"/>
                </a:solidFill>
                <a:latin typeface="Plus Jakarta Sans"/>
              </a:rPr>
              <a:t>SOLUÇÃO ERP</a:t>
            </a:r>
            <a:endParaRPr lang="pt-BR" sz="1050" b="1" i="0" u="none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186" name="TextBox 20">
            <a:extLst>
              <a:ext uri="{FF2B5EF4-FFF2-40B4-BE49-F238E27FC236}">
                <a16:creationId xmlns:a16="http://schemas.microsoft.com/office/drawing/2014/main" id="{E68D6209-9EDB-40C1-99C5-C2FCD5D5521B}"/>
              </a:ext>
            </a:extLst>
          </p:cNvPr>
          <p:cNvSpPr txBox="1"/>
          <p:nvPr/>
        </p:nvSpPr>
        <p:spPr>
          <a:xfrm>
            <a:off x="3624975" y="4543583"/>
            <a:ext cx="2395859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u="none" dirty="0">
                <a:solidFill>
                  <a:srgbClr val="14532D"/>
                </a:solidFill>
                <a:latin typeface="Plus Jakarta Sans"/>
              </a:rPr>
              <a:t>Rastreio, custo e evidências</a:t>
            </a:r>
          </a:p>
        </p:txBody>
      </p:sp>
      <p:sp>
        <p:nvSpPr>
          <p:cNvPr id="188" name="Rounded Rectangle 1">
            <a:extLst>
              <a:ext uri="{FF2B5EF4-FFF2-40B4-BE49-F238E27FC236}">
                <a16:creationId xmlns:a16="http://schemas.microsoft.com/office/drawing/2014/main" id="{159FF15A-296F-457D-AA15-A8420295597F}"/>
              </a:ext>
            </a:extLst>
          </p:cNvPr>
          <p:cNvSpPr/>
          <p:nvPr/>
        </p:nvSpPr>
        <p:spPr>
          <a:xfrm>
            <a:off x="482789" y="3716109"/>
            <a:ext cx="2758374" cy="1047598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9" name="Rectangle 4">
            <a:extLst>
              <a:ext uri="{FF2B5EF4-FFF2-40B4-BE49-F238E27FC236}">
                <a16:creationId xmlns:a16="http://schemas.microsoft.com/office/drawing/2014/main" id="{C7A4B835-094D-46DE-8C50-0684E92E25D7}"/>
              </a:ext>
            </a:extLst>
          </p:cNvPr>
          <p:cNvSpPr/>
          <p:nvPr/>
        </p:nvSpPr>
        <p:spPr>
          <a:xfrm>
            <a:off x="646874" y="4380861"/>
            <a:ext cx="45719" cy="36812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ounded Rectangle 7">
            <a:extLst>
              <a:ext uri="{FF2B5EF4-FFF2-40B4-BE49-F238E27FC236}">
                <a16:creationId xmlns:a16="http://schemas.microsoft.com/office/drawing/2014/main" id="{BF4ED5D7-C23F-4F11-AEDD-8868F411ADD1}"/>
              </a:ext>
            </a:extLst>
          </p:cNvPr>
          <p:cNvSpPr/>
          <p:nvPr/>
        </p:nvSpPr>
        <p:spPr>
          <a:xfrm>
            <a:off x="644183" y="3983522"/>
            <a:ext cx="2435585" cy="368126"/>
          </a:xfrm>
          <a:prstGeom prst="roundRect">
            <a:avLst>
              <a:gd name="adj" fmla="val 5194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8">
            <a:extLst>
              <a:ext uri="{FF2B5EF4-FFF2-40B4-BE49-F238E27FC236}">
                <a16:creationId xmlns:a16="http://schemas.microsoft.com/office/drawing/2014/main" id="{0972CC0B-F1DD-4C90-AA7F-4EE8D008ADD4}"/>
              </a:ext>
            </a:extLst>
          </p:cNvPr>
          <p:cNvSpPr/>
          <p:nvPr/>
        </p:nvSpPr>
        <p:spPr>
          <a:xfrm>
            <a:off x="644183" y="3983521"/>
            <a:ext cx="45719" cy="368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">
            <a:extLst>
              <a:ext uri="{FF2B5EF4-FFF2-40B4-BE49-F238E27FC236}">
                <a16:creationId xmlns:a16="http://schemas.microsoft.com/office/drawing/2014/main" id="{1A9DAA8D-EC88-4C15-A8D0-84E62F35B0BE}"/>
              </a:ext>
            </a:extLst>
          </p:cNvPr>
          <p:cNvSpPr txBox="1"/>
          <p:nvPr/>
        </p:nvSpPr>
        <p:spPr>
          <a:xfrm>
            <a:off x="725414" y="3986278"/>
            <a:ext cx="2327989" cy="124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991B1B"/>
                </a:solidFill>
                <a:latin typeface="Plus Jakarta Sans"/>
              </a:rPr>
              <a:t>PROBLEMA</a:t>
            </a:r>
          </a:p>
        </p:txBody>
      </p:sp>
      <p:sp>
        <p:nvSpPr>
          <p:cNvPr id="193" name="TextBox 23">
            <a:extLst>
              <a:ext uri="{FF2B5EF4-FFF2-40B4-BE49-F238E27FC236}">
                <a16:creationId xmlns:a16="http://schemas.microsoft.com/office/drawing/2014/main" id="{CA193EBF-83FF-4F11-B071-B241CF9A4E66}"/>
              </a:ext>
            </a:extLst>
          </p:cNvPr>
          <p:cNvSpPr txBox="1"/>
          <p:nvPr/>
        </p:nvSpPr>
        <p:spPr>
          <a:xfrm>
            <a:off x="797115" y="3722012"/>
            <a:ext cx="152698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500" b="1" i="0" u="none" dirty="0">
                <a:solidFill>
                  <a:srgbClr val="1E1B4B"/>
                </a:solidFill>
                <a:latin typeface="Plus Jakarta Sans"/>
              </a:rPr>
              <a:t>Suprimentos</a:t>
            </a:r>
          </a:p>
        </p:txBody>
      </p:sp>
      <p:sp>
        <p:nvSpPr>
          <p:cNvPr id="194" name="TextBox 24">
            <a:extLst>
              <a:ext uri="{FF2B5EF4-FFF2-40B4-BE49-F238E27FC236}">
                <a16:creationId xmlns:a16="http://schemas.microsoft.com/office/drawing/2014/main" id="{095088D9-2906-4759-B3BE-04F3F77DF4D2}"/>
              </a:ext>
            </a:extLst>
          </p:cNvPr>
          <p:cNvSpPr txBox="1"/>
          <p:nvPr/>
        </p:nvSpPr>
        <p:spPr>
          <a:xfrm>
            <a:off x="781870" y="4146429"/>
            <a:ext cx="238667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u="none" dirty="0">
                <a:solidFill>
                  <a:srgbClr val="7F1D1D"/>
                </a:solidFill>
                <a:latin typeface="Plus Jakarta Sans"/>
              </a:rPr>
              <a:t>Estoque em papel</a:t>
            </a:r>
            <a:endParaRPr sz="1000" b="0" i="0" u="none" dirty="0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195" name="Rounded Rectangle 5">
            <a:extLst>
              <a:ext uri="{FF2B5EF4-FFF2-40B4-BE49-F238E27FC236}">
                <a16:creationId xmlns:a16="http://schemas.microsoft.com/office/drawing/2014/main" id="{5705914B-2737-4717-93BA-68FF03BF3681}"/>
              </a:ext>
            </a:extLst>
          </p:cNvPr>
          <p:cNvSpPr/>
          <p:nvPr/>
        </p:nvSpPr>
        <p:spPr>
          <a:xfrm>
            <a:off x="697153" y="4393420"/>
            <a:ext cx="2382615" cy="355566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6" name="TextBox 17">
            <a:extLst>
              <a:ext uri="{FF2B5EF4-FFF2-40B4-BE49-F238E27FC236}">
                <a16:creationId xmlns:a16="http://schemas.microsoft.com/office/drawing/2014/main" id="{ABE442EA-9B81-44FA-A7DA-61BC7F494240}"/>
              </a:ext>
            </a:extLst>
          </p:cNvPr>
          <p:cNvSpPr txBox="1"/>
          <p:nvPr/>
        </p:nvSpPr>
        <p:spPr>
          <a:xfrm>
            <a:off x="697875" y="4364613"/>
            <a:ext cx="232798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66534"/>
                </a:solidFill>
                <a:latin typeface="Plus Jakarta Sans"/>
              </a:rPr>
              <a:t>SOLUÇÃO ERP</a:t>
            </a:r>
            <a:endParaRPr lang="pt-BR" sz="1050" b="1" i="0" u="none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197" name="TextBox 20">
            <a:extLst>
              <a:ext uri="{FF2B5EF4-FFF2-40B4-BE49-F238E27FC236}">
                <a16:creationId xmlns:a16="http://schemas.microsoft.com/office/drawing/2014/main" id="{4588EA4F-288B-4695-B0C4-02642DC61401}"/>
              </a:ext>
            </a:extLst>
          </p:cNvPr>
          <p:cNvSpPr txBox="1"/>
          <p:nvPr/>
        </p:nvSpPr>
        <p:spPr>
          <a:xfrm>
            <a:off x="778682" y="4537680"/>
            <a:ext cx="2395859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dirty="0">
                <a:solidFill>
                  <a:srgbClr val="14532D"/>
                </a:solidFill>
                <a:latin typeface="Plus Jakarta Sans"/>
              </a:rPr>
              <a:t>Sugestão C</a:t>
            </a:r>
            <a:r>
              <a:rPr lang="pt-BR" sz="1000" b="0" i="0" u="none" dirty="0">
                <a:solidFill>
                  <a:srgbClr val="14532D"/>
                </a:solidFill>
                <a:latin typeface="Plus Jakarta Sans"/>
              </a:rPr>
              <a:t>ompra.</a:t>
            </a:r>
            <a:endParaRPr sz="1000" b="0" i="0" u="none" dirty="0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199" name="Rounded Rectangle 1">
            <a:extLst>
              <a:ext uri="{FF2B5EF4-FFF2-40B4-BE49-F238E27FC236}">
                <a16:creationId xmlns:a16="http://schemas.microsoft.com/office/drawing/2014/main" id="{A59A1602-DD75-4CC6-BD0A-382BA054D844}"/>
              </a:ext>
            </a:extLst>
          </p:cNvPr>
          <p:cNvSpPr/>
          <p:nvPr/>
        </p:nvSpPr>
        <p:spPr>
          <a:xfrm>
            <a:off x="3329082" y="4870241"/>
            <a:ext cx="2758374" cy="1047598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0" name="Rectangle 4">
            <a:extLst>
              <a:ext uri="{FF2B5EF4-FFF2-40B4-BE49-F238E27FC236}">
                <a16:creationId xmlns:a16="http://schemas.microsoft.com/office/drawing/2014/main" id="{9FB36125-8E48-4E7B-8668-E07F8583E586}"/>
              </a:ext>
            </a:extLst>
          </p:cNvPr>
          <p:cNvSpPr/>
          <p:nvPr/>
        </p:nvSpPr>
        <p:spPr>
          <a:xfrm>
            <a:off x="3493167" y="5534993"/>
            <a:ext cx="45719" cy="36812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ounded Rectangle 7">
            <a:extLst>
              <a:ext uri="{FF2B5EF4-FFF2-40B4-BE49-F238E27FC236}">
                <a16:creationId xmlns:a16="http://schemas.microsoft.com/office/drawing/2014/main" id="{7E6F1D7A-A319-4BF9-B715-2E214578A7E2}"/>
              </a:ext>
            </a:extLst>
          </p:cNvPr>
          <p:cNvSpPr/>
          <p:nvPr/>
        </p:nvSpPr>
        <p:spPr>
          <a:xfrm>
            <a:off x="3490476" y="5137654"/>
            <a:ext cx="2435585" cy="368126"/>
          </a:xfrm>
          <a:prstGeom prst="roundRect">
            <a:avLst>
              <a:gd name="adj" fmla="val 5194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8">
            <a:extLst>
              <a:ext uri="{FF2B5EF4-FFF2-40B4-BE49-F238E27FC236}">
                <a16:creationId xmlns:a16="http://schemas.microsoft.com/office/drawing/2014/main" id="{2C55DFA5-7487-4971-B495-BD30DD5DA968}"/>
              </a:ext>
            </a:extLst>
          </p:cNvPr>
          <p:cNvSpPr/>
          <p:nvPr/>
        </p:nvSpPr>
        <p:spPr>
          <a:xfrm>
            <a:off x="3490476" y="5137653"/>
            <a:ext cx="45719" cy="368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19">
            <a:extLst>
              <a:ext uri="{FF2B5EF4-FFF2-40B4-BE49-F238E27FC236}">
                <a16:creationId xmlns:a16="http://schemas.microsoft.com/office/drawing/2014/main" id="{3F5C599E-37A5-49F0-8F78-B18BAAC19C28}"/>
              </a:ext>
            </a:extLst>
          </p:cNvPr>
          <p:cNvSpPr txBox="1"/>
          <p:nvPr/>
        </p:nvSpPr>
        <p:spPr>
          <a:xfrm>
            <a:off x="3571707" y="5140410"/>
            <a:ext cx="2327989" cy="124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991B1B"/>
                </a:solidFill>
                <a:latin typeface="Plus Jakarta Sans"/>
              </a:rPr>
              <a:t>PROBLEMA</a:t>
            </a:r>
          </a:p>
        </p:txBody>
      </p:sp>
      <p:sp>
        <p:nvSpPr>
          <p:cNvPr id="204" name="TextBox 23">
            <a:extLst>
              <a:ext uri="{FF2B5EF4-FFF2-40B4-BE49-F238E27FC236}">
                <a16:creationId xmlns:a16="http://schemas.microsoft.com/office/drawing/2014/main" id="{ECDEBDFB-821B-4C43-A059-A4DB4BB5BCA6}"/>
              </a:ext>
            </a:extLst>
          </p:cNvPr>
          <p:cNvSpPr txBox="1"/>
          <p:nvPr/>
        </p:nvSpPr>
        <p:spPr>
          <a:xfrm>
            <a:off x="3643408" y="4876144"/>
            <a:ext cx="118259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500" b="1" i="0" u="none" dirty="0">
                <a:solidFill>
                  <a:srgbClr val="1E1B4B"/>
                </a:solidFill>
                <a:latin typeface="Plus Jakarta Sans"/>
              </a:rPr>
              <a:t>Regras</a:t>
            </a:r>
            <a:endParaRPr sz="1500" b="1" i="0" u="none" dirty="0">
              <a:solidFill>
                <a:srgbClr val="1E1B4B"/>
              </a:solidFill>
              <a:latin typeface="Plus Jakarta Sans"/>
            </a:endParaRPr>
          </a:p>
        </p:txBody>
      </p:sp>
      <p:sp>
        <p:nvSpPr>
          <p:cNvPr id="205" name="TextBox 24">
            <a:extLst>
              <a:ext uri="{FF2B5EF4-FFF2-40B4-BE49-F238E27FC236}">
                <a16:creationId xmlns:a16="http://schemas.microsoft.com/office/drawing/2014/main" id="{00CBD76F-A582-4BD6-A09D-807D92812695}"/>
              </a:ext>
            </a:extLst>
          </p:cNvPr>
          <p:cNvSpPr txBox="1"/>
          <p:nvPr/>
        </p:nvSpPr>
        <p:spPr>
          <a:xfrm>
            <a:off x="3628163" y="5300561"/>
            <a:ext cx="238667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u="none" dirty="0">
                <a:solidFill>
                  <a:srgbClr val="7F1D1D"/>
                </a:solidFill>
                <a:latin typeface="Plus Jakarta Sans"/>
              </a:rPr>
              <a:t>Preços e taxas sem padrão</a:t>
            </a:r>
            <a:endParaRPr sz="1000" b="0" i="0" u="none" dirty="0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06" name="Rounded Rectangle 5">
            <a:extLst>
              <a:ext uri="{FF2B5EF4-FFF2-40B4-BE49-F238E27FC236}">
                <a16:creationId xmlns:a16="http://schemas.microsoft.com/office/drawing/2014/main" id="{28BB2871-D043-45AF-BB70-6C74D16DB1D1}"/>
              </a:ext>
            </a:extLst>
          </p:cNvPr>
          <p:cNvSpPr/>
          <p:nvPr/>
        </p:nvSpPr>
        <p:spPr>
          <a:xfrm>
            <a:off x="3543446" y="5547552"/>
            <a:ext cx="2382615" cy="355566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7" name="TextBox 17">
            <a:extLst>
              <a:ext uri="{FF2B5EF4-FFF2-40B4-BE49-F238E27FC236}">
                <a16:creationId xmlns:a16="http://schemas.microsoft.com/office/drawing/2014/main" id="{AF7F04FC-36D3-4383-ABA2-6E9AAA6388EF}"/>
              </a:ext>
            </a:extLst>
          </p:cNvPr>
          <p:cNvSpPr txBox="1"/>
          <p:nvPr/>
        </p:nvSpPr>
        <p:spPr>
          <a:xfrm>
            <a:off x="3579680" y="5518745"/>
            <a:ext cx="232798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66534"/>
                </a:solidFill>
                <a:latin typeface="Plus Jakarta Sans"/>
              </a:rPr>
              <a:t>SOLUÇÃO ERP</a:t>
            </a:r>
            <a:endParaRPr lang="pt-BR" sz="1050" b="1" i="0" u="none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208" name="TextBox 20">
            <a:extLst>
              <a:ext uri="{FF2B5EF4-FFF2-40B4-BE49-F238E27FC236}">
                <a16:creationId xmlns:a16="http://schemas.microsoft.com/office/drawing/2014/main" id="{B59BEED3-FDA7-4792-B0B7-6F573A18C98C}"/>
              </a:ext>
            </a:extLst>
          </p:cNvPr>
          <p:cNvSpPr txBox="1"/>
          <p:nvPr/>
        </p:nvSpPr>
        <p:spPr>
          <a:xfrm>
            <a:off x="3624975" y="5691812"/>
            <a:ext cx="2365959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u="none" dirty="0">
                <a:solidFill>
                  <a:srgbClr val="14532D"/>
                </a:solidFill>
                <a:latin typeface="Plus Jakarta Sans"/>
              </a:rPr>
              <a:t>Regras parametrizadas</a:t>
            </a:r>
            <a:endParaRPr sz="1000" b="0" i="0" u="none" dirty="0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10" name="Rounded Rectangle 1">
            <a:extLst>
              <a:ext uri="{FF2B5EF4-FFF2-40B4-BE49-F238E27FC236}">
                <a16:creationId xmlns:a16="http://schemas.microsoft.com/office/drawing/2014/main" id="{A1FE8A35-E83F-4BEB-ADA6-D56B12271DD6}"/>
              </a:ext>
            </a:extLst>
          </p:cNvPr>
          <p:cNvSpPr/>
          <p:nvPr/>
        </p:nvSpPr>
        <p:spPr>
          <a:xfrm>
            <a:off x="482789" y="4864338"/>
            <a:ext cx="2758374" cy="1047598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1" name="Rectangle 4">
            <a:extLst>
              <a:ext uri="{FF2B5EF4-FFF2-40B4-BE49-F238E27FC236}">
                <a16:creationId xmlns:a16="http://schemas.microsoft.com/office/drawing/2014/main" id="{13D3D5E7-205B-4BA1-97E0-7A74861E5ACF}"/>
              </a:ext>
            </a:extLst>
          </p:cNvPr>
          <p:cNvSpPr/>
          <p:nvPr/>
        </p:nvSpPr>
        <p:spPr>
          <a:xfrm>
            <a:off x="646874" y="5529090"/>
            <a:ext cx="45719" cy="36812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ounded Rectangle 7">
            <a:extLst>
              <a:ext uri="{FF2B5EF4-FFF2-40B4-BE49-F238E27FC236}">
                <a16:creationId xmlns:a16="http://schemas.microsoft.com/office/drawing/2014/main" id="{A4FD4EA9-7EF6-40BF-919D-90AED7AE815D}"/>
              </a:ext>
            </a:extLst>
          </p:cNvPr>
          <p:cNvSpPr/>
          <p:nvPr/>
        </p:nvSpPr>
        <p:spPr>
          <a:xfrm>
            <a:off x="644183" y="5131751"/>
            <a:ext cx="2435585" cy="368126"/>
          </a:xfrm>
          <a:prstGeom prst="roundRect">
            <a:avLst>
              <a:gd name="adj" fmla="val 5194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8">
            <a:extLst>
              <a:ext uri="{FF2B5EF4-FFF2-40B4-BE49-F238E27FC236}">
                <a16:creationId xmlns:a16="http://schemas.microsoft.com/office/drawing/2014/main" id="{FF9122AD-7EF1-4B38-8B60-D25C0D9C6BFD}"/>
              </a:ext>
            </a:extLst>
          </p:cNvPr>
          <p:cNvSpPr/>
          <p:nvPr/>
        </p:nvSpPr>
        <p:spPr>
          <a:xfrm>
            <a:off x="644183" y="5131750"/>
            <a:ext cx="45719" cy="368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19">
            <a:extLst>
              <a:ext uri="{FF2B5EF4-FFF2-40B4-BE49-F238E27FC236}">
                <a16:creationId xmlns:a16="http://schemas.microsoft.com/office/drawing/2014/main" id="{23288303-958A-49FC-AC7C-F682139D1FC9}"/>
              </a:ext>
            </a:extLst>
          </p:cNvPr>
          <p:cNvSpPr txBox="1"/>
          <p:nvPr/>
        </p:nvSpPr>
        <p:spPr>
          <a:xfrm>
            <a:off x="725414" y="5134507"/>
            <a:ext cx="2327989" cy="124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991B1B"/>
                </a:solidFill>
                <a:latin typeface="Plus Jakarta Sans"/>
              </a:rPr>
              <a:t>PROBLEMA</a:t>
            </a:r>
          </a:p>
        </p:txBody>
      </p:sp>
      <p:sp>
        <p:nvSpPr>
          <p:cNvPr id="215" name="TextBox 23">
            <a:extLst>
              <a:ext uri="{FF2B5EF4-FFF2-40B4-BE49-F238E27FC236}">
                <a16:creationId xmlns:a16="http://schemas.microsoft.com/office/drawing/2014/main" id="{D3592A31-2648-4E94-B4DF-16D044046BD1}"/>
              </a:ext>
            </a:extLst>
          </p:cNvPr>
          <p:cNvSpPr txBox="1"/>
          <p:nvPr/>
        </p:nvSpPr>
        <p:spPr>
          <a:xfrm>
            <a:off x="797115" y="4870241"/>
            <a:ext cx="100621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500" b="1" i="0" u="none" dirty="0">
                <a:solidFill>
                  <a:srgbClr val="1E1B4B"/>
                </a:solidFill>
                <a:latin typeface="Plus Jakarta Sans"/>
              </a:rPr>
              <a:t>Financeiro</a:t>
            </a:r>
          </a:p>
        </p:txBody>
      </p:sp>
      <p:sp>
        <p:nvSpPr>
          <p:cNvPr id="216" name="TextBox 24">
            <a:extLst>
              <a:ext uri="{FF2B5EF4-FFF2-40B4-BE49-F238E27FC236}">
                <a16:creationId xmlns:a16="http://schemas.microsoft.com/office/drawing/2014/main" id="{5E4FA5DE-FD49-44C1-881E-060D0B6E3790}"/>
              </a:ext>
            </a:extLst>
          </p:cNvPr>
          <p:cNvSpPr txBox="1"/>
          <p:nvPr/>
        </p:nvSpPr>
        <p:spPr>
          <a:xfrm>
            <a:off x="781870" y="5294658"/>
            <a:ext cx="248870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u="none" dirty="0">
                <a:solidFill>
                  <a:srgbClr val="7F1D1D"/>
                </a:solidFill>
                <a:latin typeface="Plus Jakarta Sans"/>
              </a:rPr>
              <a:t>Erros de repasses e cobrança</a:t>
            </a:r>
            <a:endParaRPr sz="1000" b="0" i="0" u="none" dirty="0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17" name="Rounded Rectangle 5">
            <a:extLst>
              <a:ext uri="{FF2B5EF4-FFF2-40B4-BE49-F238E27FC236}">
                <a16:creationId xmlns:a16="http://schemas.microsoft.com/office/drawing/2014/main" id="{86974A6B-B876-4D4E-ADCD-33817A479890}"/>
              </a:ext>
            </a:extLst>
          </p:cNvPr>
          <p:cNvSpPr/>
          <p:nvPr/>
        </p:nvSpPr>
        <p:spPr>
          <a:xfrm>
            <a:off x="697153" y="5541649"/>
            <a:ext cx="2382615" cy="355566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8" name="TextBox 17">
            <a:extLst>
              <a:ext uri="{FF2B5EF4-FFF2-40B4-BE49-F238E27FC236}">
                <a16:creationId xmlns:a16="http://schemas.microsoft.com/office/drawing/2014/main" id="{6833DC56-C2B4-4232-B36A-B71BE9D73BE6}"/>
              </a:ext>
            </a:extLst>
          </p:cNvPr>
          <p:cNvSpPr txBox="1"/>
          <p:nvPr/>
        </p:nvSpPr>
        <p:spPr>
          <a:xfrm>
            <a:off x="733387" y="5512842"/>
            <a:ext cx="232798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66534"/>
                </a:solidFill>
                <a:latin typeface="Plus Jakarta Sans"/>
              </a:rPr>
              <a:t>SOLUÇÃO ERP</a:t>
            </a:r>
            <a:endParaRPr lang="pt-BR" sz="1050" b="1" i="0" u="none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219" name="TextBox 20">
            <a:extLst>
              <a:ext uri="{FF2B5EF4-FFF2-40B4-BE49-F238E27FC236}">
                <a16:creationId xmlns:a16="http://schemas.microsoft.com/office/drawing/2014/main" id="{8979DF47-8A08-4127-A6A9-89DA6CAFEB10}"/>
              </a:ext>
            </a:extLst>
          </p:cNvPr>
          <p:cNvSpPr txBox="1"/>
          <p:nvPr/>
        </p:nvSpPr>
        <p:spPr>
          <a:xfrm>
            <a:off x="778682" y="5685909"/>
            <a:ext cx="280326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dirty="0">
                <a:solidFill>
                  <a:srgbClr val="14532D"/>
                </a:solidFill>
                <a:latin typeface="Plus Jakarta Sans"/>
              </a:rPr>
              <a:t>Pagamento unificado</a:t>
            </a:r>
            <a:endParaRPr lang="pt-BR" sz="1000" b="0" i="0" u="none" dirty="0">
              <a:solidFill>
                <a:srgbClr val="14532D"/>
              </a:solidFill>
              <a:latin typeface="Plus Jakarta Sans"/>
            </a:endParaRPr>
          </a:p>
        </p:txBody>
      </p:sp>
      <p:pic>
        <p:nvPicPr>
          <p:cNvPr id="224" name="Picture 13" descr="image.png">
            <a:extLst>
              <a:ext uri="{FF2B5EF4-FFF2-40B4-BE49-F238E27FC236}">
                <a16:creationId xmlns:a16="http://schemas.microsoft.com/office/drawing/2014/main" id="{0D417756-F506-49E8-ACCC-11999B48C5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627" y="2652762"/>
            <a:ext cx="106680" cy="102822"/>
          </a:xfrm>
          <a:prstGeom prst="rect">
            <a:avLst/>
          </a:prstGeom>
        </p:spPr>
      </p:pic>
      <p:pic>
        <p:nvPicPr>
          <p:cNvPr id="228" name="Picture 14" descr="image.png">
            <a:extLst>
              <a:ext uri="{FF2B5EF4-FFF2-40B4-BE49-F238E27FC236}">
                <a16:creationId xmlns:a16="http://schemas.microsoft.com/office/drawing/2014/main" id="{CEDE0FBF-2669-4940-B8A9-E98D5387AB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0520" y="2654977"/>
            <a:ext cx="142875" cy="106447"/>
          </a:xfrm>
          <a:prstGeom prst="rect">
            <a:avLst/>
          </a:prstGeom>
        </p:spPr>
      </p:pic>
      <p:pic>
        <p:nvPicPr>
          <p:cNvPr id="234" name="Picture 14" descr="image.png">
            <a:extLst>
              <a:ext uri="{FF2B5EF4-FFF2-40B4-BE49-F238E27FC236}">
                <a16:creationId xmlns:a16="http://schemas.microsoft.com/office/drawing/2014/main" id="{9329E914-FB56-441C-B616-A6D3AE70E16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31016" y="3801522"/>
            <a:ext cx="124301" cy="109400"/>
          </a:xfrm>
          <a:prstGeom prst="rect">
            <a:avLst/>
          </a:prstGeom>
        </p:spPr>
      </p:pic>
      <p:pic>
        <p:nvPicPr>
          <p:cNvPr id="239" name="Picture 13" descr="image.png">
            <a:extLst>
              <a:ext uri="{FF2B5EF4-FFF2-40B4-BE49-F238E27FC236}">
                <a16:creationId xmlns:a16="http://schemas.microsoft.com/office/drawing/2014/main" id="{1905A787-B925-4B8C-88DC-43FE61E336F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6858" y="3796039"/>
            <a:ext cx="166569" cy="100428"/>
          </a:xfrm>
          <a:prstGeom prst="rect">
            <a:avLst/>
          </a:prstGeom>
        </p:spPr>
      </p:pic>
      <p:pic>
        <p:nvPicPr>
          <p:cNvPr id="242" name="Picture 13" descr="image.png">
            <a:extLst>
              <a:ext uri="{FF2B5EF4-FFF2-40B4-BE49-F238E27FC236}">
                <a16:creationId xmlns:a16="http://schemas.microsoft.com/office/drawing/2014/main" id="{8F99EDBB-36AB-4D01-8023-8CBBDF9E3EE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5792" y="4936195"/>
            <a:ext cx="98101" cy="97439"/>
          </a:xfrm>
          <a:prstGeom prst="rect">
            <a:avLst/>
          </a:prstGeom>
        </p:spPr>
      </p:pic>
      <p:pic>
        <p:nvPicPr>
          <p:cNvPr id="245" name="Picture 14" descr="image.png">
            <a:extLst>
              <a:ext uri="{FF2B5EF4-FFF2-40B4-BE49-F238E27FC236}">
                <a16:creationId xmlns:a16="http://schemas.microsoft.com/office/drawing/2014/main" id="{0E53E832-F359-4601-AC9A-EC5F13C83DF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26494" y="4958459"/>
            <a:ext cx="116900" cy="101647"/>
          </a:xfrm>
          <a:prstGeom prst="rect">
            <a:avLst/>
          </a:prstGeom>
        </p:spPr>
      </p:pic>
      <p:sp>
        <p:nvSpPr>
          <p:cNvPr id="246" name="Retângulo 245">
            <a:extLst>
              <a:ext uri="{FF2B5EF4-FFF2-40B4-BE49-F238E27FC236}">
                <a16:creationId xmlns:a16="http://schemas.microsoft.com/office/drawing/2014/main" id="{E361FAB5-8DAC-4BF5-8AB9-BDCE03EE75D2}"/>
              </a:ext>
            </a:extLst>
          </p:cNvPr>
          <p:cNvSpPr/>
          <p:nvPr/>
        </p:nvSpPr>
        <p:spPr>
          <a:xfrm>
            <a:off x="0" y="0"/>
            <a:ext cx="8877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1333500"/>
            <a:ext cx="4059882" cy="4396978"/>
          </a:xfrm>
          <a:prstGeom prst="roundRect">
            <a:avLst>
              <a:gd name="adj" fmla="val 28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821883" y="1301948"/>
            <a:ext cx="6912917" cy="4396978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5325" y="1828800"/>
            <a:ext cx="3583632" cy="88820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5325" y="1828800"/>
            <a:ext cx="38100" cy="88820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60007" y="4958953"/>
            <a:ext cx="6436667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49304" y="2119312"/>
            <a:ext cx="1476375" cy="314325"/>
          </a:xfrm>
          <a:prstGeom prst="roundRect">
            <a:avLst>
              <a:gd name="adj" fmla="val 2424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49304" y="2738437"/>
            <a:ext cx="1476375" cy="4572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49304" y="3500437"/>
            <a:ext cx="1476375" cy="314325"/>
          </a:xfrm>
          <a:prstGeom prst="roundRect">
            <a:avLst>
              <a:gd name="adj" fmla="val 2424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930854" y="2119312"/>
            <a:ext cx="1476375" cy="4572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930854" y="2881312"/>
            <a:ext cx="1476375" cy="314325"/>
          </a:xfrm>
          <a:prstGeom prst="roundRect">
            <a:avLst>
              <a:gd name="adj" fmla="val 2424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930854" y="3500437"/>
            <a:ext cx="1476375" cy="314325"/>
          </a:xfrm>
          <a:prstGeom prst="roundRect">
            <a:avLst>
              <a:gd name="adj" fmla="val 2424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677941" y="5130403"/>
            <a:ext cx="1066800" cy="361950"/>
          </a:xfrm>
          <a:prstGeom prst="roundRect">
            <a:avLst>
              <a:gd name="adj" fmla="val 21052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60007" y="4958953"/>
            <a:ext cx="6436667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154316" y="5130403"/>
            <a:ext cx="1409700" cy="361950"/>
          </a:xfrm>
          <a:prstGeom prst="roundRect">
            <a:avLst>
              <a:gd name="adj" fmla="val 21052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73591" y="5130403"/>
            <a:ext cx="1905000" cy="361950"/>
          </a:xfrm>
          <a:prstGeom prst="roundRect">
            <a:avLst>
              <a:gd name="adj" fmla="val 21052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141" y="5254228"/>
            <a:ext cx="104775" cy="1143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416" y="5254228"/>
            <a:ext cx="104775" cy="1143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154" y="2224087"/>
            <a:ext cx="114300" cy="1143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041" y="2843212"/>
            <a:ext cx="85725" cy="1143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6941" y="3605212"/>
            <a:ext cx="104775" cy="1143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1379" y="2224087"/>
            <a:ext cx="114300" cy="1143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3254" y="2986087"/>
            <a:ext cx="142875" cy="1143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0879" y="3605212"/>
            <a:ext cx="104775" cy="1143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9866" y="5254228"/>
            <a:ext cx="104775" cy="1238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6241" y="5254228"/>
            <a:ext cx="123825" cy="12382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5516" y="5254228"/>
            <a:ext cx="142875" cy="12382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57200" y="381000"/>
            <a:ext cx="8774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ARQUITETURA DO MODELO DE DADOS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61574"/>
            <a:ext cx="7761099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pt-BR" sz="2250" b="1" i="0" u="none" dirty="0">
                <a:solidFill>
                  <a:srgbClr val="0F172A"/>
                </a:solidFill>
                <a:latin typeface="Space Grotesk"/>
              </a:rPr>
              <a:t>O desafio não está na sala, mas em tudo que envolve sua gestão.</a:t>
            </a:r>
            <a:endParaRPr sz="225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95325" y="1571625"/>
            <a:ext cx="44795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PARTE 1 – O PROBLEMA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7725" y="1962150"/>
            <a:ext cx="3374082" cy="602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Uma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sala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não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 é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só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 um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registro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. Ela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pertence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 a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alguém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,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tem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equipamentos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,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horários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,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regras</a:t>
            </a:r>
            <a:r>
              <a:rPr lang="pt-BR" sz="1125" b="1" dirty="0">
                <a:solidFill>
                  <a:srgbClr val="334155"/>
                </a:solidFill>
                <a:latin typeface="Plus Jakarta Sans"/>
              </a:rPr>
              <a:t>,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histórico</a:t>
            </a:r>
            <a:r>
              <a:rPr lang="pt-BR" sz="1125" b="1" i="0" u="none" dirty="0">
                <a:solidFill>
                  <a:srgbClr val="334155"/>
                </a:solidFill>
                <a:latin typeface="Plus Jakarta Sans"/>
              </a:rPr>
              <a:t>, manutenção, custo e etc..</a:t>
            </a:r>
            <a:r>
              <a:rPr lang="pt-BR" sz="1125" b="1" dirty="0">
                <a:solidFill>
                  <a:srgbClr val="334155"/>
                </a:solidFill>
                <a:latin typeface="Plus Jakarta Sans"/>
              </a:rPr>
              <a:t>.</a:t>
            </a:r>
            <a:endParaRPr sz="1125" b="1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95325" y="2785805"/>
            <a:ext cx="132889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Plus Jakarta Sans"/>
              </a:rPr>
              <a:t>PERGUNTAS A RESPONDER:</a:t>
            </a:r>
            <a:endParaRPr lang="pt-BR" sz="900" b="1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60007" y="1571625"/>
            <a:ext cx="713199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Plus Jakarta Sans"/>
              </a:rPr>
              <a:t>PARTE 2 – A SOLUÇÃO (MODELO ENTIDADE-RELACIONAMENTO)</a:t>
            </a:r>
          </a:p>
        </p:txBody>
      </p:sp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B5E1B0C6-20D2-467D-B592-A90FE8DAC972}"/>
              </a:ext>
            </a:extLst>
          </p:cNvPr>
          <p:cNvGrpSpPr/>
          <p:nvPr/>
        </p:nvGrpSpPr>
        <p:grpSpPr>
          <a:xfrm>
            <a:off x="457200" y="5773331"/>
            <a:ext cx="3657600" cy="556021"/>
            <a:chOff x="457200" y="5920978"/>
            <a:chExt cx="3657600" cy="556021"/>
          </a:xfrm>
        </p:grpSpPr>
        <p:sp>
          <p:nvSpPr>
            <p:cNvPr id="5" name="Rounded Rectangle 4"/>
            <p:cNvSpPr/>
            <p:nvPr/>
          </p:nvSpPr>
          <p:spPr>
            <a:xfrm>
              <a:off x="457200" y="5920978"/>
              <a:ext cx="3657600" cy="556021"/>
            </a:xfrm>
            <a:prstGeom prst="roundRect">
              <a:avLst>
                <a:gd name="adj" fmla="val 1370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19125" y="6084689"/>
              <a:ext cx="228600" cy="22860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6250" y="6129739"/>
              <a:ext cx="51435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i="0" u="none" dirty="0">
                  <a:solidFill>
                    <a:srgbClr val="FFFFFF"/>
                  </a:solidFill>
                  <a:latin typeface="Plus Jakarta Sans"/>
                </a:rPr>
                <a:t>1</a:t>
              </a:r>
              <a:r>
                <a:rPr lang="pt-BR" sz="900" b="1" i="0" u="none" dirty="0">
                  <a:solidFill>
                    <a:srgbClr val="FFFFFF"/>
                  </a:solidFill>
                  <a:latin typeface="Plus Jakarta Sans"/>
                </a:rPr>
                <a:t> </a:t>
              </a:r>
              <a:endParaRPr sz="900" b="1" i="0" u="none" dirty="0">
                <a:solidFill>
                  <a:srgbClr val="FFFFFF"/>
                </a:solidFill>
                <a:latin typeface="Plus Jakarta Sans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62025" y="6044803"/>
              <a:ext cx="3086100" cy="30837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214"/>
                </a:lnSpc>
              </a:pPr>
              <a:r>
                <a:rPr sz="900" b="1" i="0" u="none">
                  <a:solidFill>
                    <a:srgbClr val="0F172A"/>
                  </a:solidFill>
                  <a:latin typeface="Plus Jakarta Sans"/>
                </a:rPr>
                <a:t>Hierarquia:</a:t>
              </a:r>
              <a:r>
                <a:rPr sz="900" b="0" i="0" u="none">
                  <a:solidFill>
                    <a:srgbClr val="334155"/>
                  </a:solidFill>
                  <a:latin typeface="Plus Jakarta Sans"/>
                </a:rPr>
                <a:t> Sabemos de quem é cada sala e onde ela está, sem repetir dados.</a:t>
              </a:r>
            </a:p>
          </p:txBody>
        </p:sp>
      </p:grp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E9813DDF-E21D-4374-9B3F-0308A16BF4CE}"/>
              </a:ext>
            </a:extLst>
          </p:cNvPr>
          <p:cNvGrpSpPr/>
          <p:nvPr/>
        </p:nvGrpSpPr>
        <p:grpSpPr>
          <a:xfrm>
            <a:off x="4267200" y="5773331"/>
            <a:ext cx="3657600" cy="556021"/>
            <a:chOff x="4267200" y="5920978"/>
            <a:chExt cx="3657600" cy="556021"/>
          </a:xfrm>
        </p:grpSpPr>
        <p:sp>
          <p:nvSpPr>
            <p:cNvPr id="6" name="Rounded Rectangle 5"/>
            <p:cNvSpPr/>
            <p:nvPr/>
          </p:nvSpPr>
          <p:spPr>
            <a:xfrm>
              <a:off x="4267200" y="5920978"/>
              <a:ext cx="3657600" cy="556021"/>
            </a:xfrm>
            <a:prstGeom prst="roundRect">
              <a:avLst>
                <a:gd name="adj" fmla="val 1370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29125" y="6084689"/>
              <a:ext cx="228600" cy="22860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286250" y="6129739"/>
              <a:ext cx="51435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i="0" u="none" dirty="0">
                  <a:solidFill>
                    <a:srgbClr val="FFFFFF"/>
                  </a:solidFill>
                  <a:latin typeface="Plus Jakarta Sans"/>
                </a:rPr>
                <a:t>2</a:t>
              </a:r>
              <a:r>
                <a:rPr lang="pt-BR" sz="900" b="1" i="0" u="none" dirty="0">
                  <a:solidFill>
                    <a:srgbClr val="FFFFFF"/>
                  </a:solidFill>
                  <a:latin typeface="Plus Jakarta Sans"/>
                </a:rPr>
                <a:t> </a:t>
              </a:r>
              <a:endParaRPr sz="900" b="1" i="0" u="none" dirty="0">
                <a:solidFill>
                  <a:srgbClr val="FFFFFF"/>
                </a:solidFill>
                <a:latin typeface="Plus Jakarta Sans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772025" y="6044803"/>
              <a:ext cx="3086100" cy="30837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214"/>
                </a:lnSpc>
              </a:pPr>
              <a:r>
                <a:rPr sz="900" b="1" i="0" u="none" dirty="0" err="1">
                  <a:solidFill>
                    <a:srgbClr val="0F172A"/>
                  </a:solidFill>
                  <a:latin typeface="Plus Jakarta Sans"/>
                </a:rPr>
                <a:t>Tabelas</a:t>
              </a:r>
              <a:r>
                <a:rPr sz="900" b="1" i="0" u="none" dirty="0">
                  <a:solidFill>
                    <a:srgbClr val="0F172A"/>
                  </a:solidFill>
                  <a:latin typeface="Plus Jakarta Sans"/>
                </a:rPr>
                <a:t> de </a:t>
              </a:r>
              <a:r>
                <a:rPr sz="900" b="1" i="0" u="none" dirty="0" err="1">
                  <a:solidFill>
                    <a:srgbClr val="0F172A"/>
                  </a:solidFill>
                  <a:latin typeface="Plus Jakarta Sans"/>
                </a:rPr>
                <a:t>apoio</a:t>
              </a:r>
              <a:r>
                <a:rPr sz="900" b="1" i="0" u="none" dirty="0">
                  <a:solidFill>
                    <a:srgbClr val="0F172A"/>
                  </a:solidFill>
                  <a:latin typeface="Plus Jakarta Sans"/>
                </a:rPr>
                <a:t>:</a:t>
              </a:r>
              <a:r>
                <a:rPr sz="900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900" b="0" i="0" u="none" dirty="0" err="1">
                  <a:solidFill>
                    <a:srgbClr val="334155"/>
                  </a:solidFill>
                  <a:latin typeface="Plus Jakarta Sans"/>
                </a:rPr>
                <a:t>Equipamentos</a:t>
              </a:r>
              <a:r>
                <a:rPr sz="900" b="0" i="0" u="none" dirty="0">
                  <a:solidFill>
                    <a:srgbClr val="334155"/>
                  </a:solidFill>
                  <a:latin typeface="Plus Jakarta Sans"/>
                </a:rPr>
                <a:t>, </a:t>
              </a:r>
              <a:r>
                <a:rPr sz="900" b="0" i="0" u="none" dirty="0" err="1">
                  <a:solidFill>
                    <a:srgbClr val="334155"/>
                  </a:solidFill>
                  <a:latin typeface="Plus Jakarta Sans"/>
                </a:rPr>
                <a:t>tipo</a:t>
              </a:r>
              <a:r>
                <a:rPr sz="900" b="0" i="0" u="none" dirty="0">
                  <a:solidFill>
                    <a:srgbClr val="334155"/>
                  </a:solidFill>
                  <a:latin typeface="Plus Jakarta Sans"/>
                </a:rPr>
                <a:t>, </a:t>
              </a:r>
              <a:r>
                <a:rPr sz="900" b="0" i="0" u="none" dirty="0" err="1">
                  <a:solidFill>
                    <a:srgbClr val="334155"/>
                  </a:solidFill>
                  <a:latin typeface="Plus Jakarta Sans"/>
                </a:rPr>
                <a:t>horários</a:t>
              </a:r>
              <a:r>
                <a:rPr sz="900" b="0" i="0" u="none" dirty="0">
                  <a:solidFill>
                    <a:srgbClr val="334155"/>
                  </a:solidFill>
                  <a:latin typeface="Plus Jakarta Sans"/>
                </a:rPr>
                <a:t>, </a:t>
              </a:r>
              <a:r>
                <a:rPr sz="900" b="0" i="0" u="none" dirty="0" err="1">
                  <a:solidFill>
                    <a:srgbClr val="334155"/>
                  </a:solidFill>
                  <a:latin typeface="Plus Jakarta Sans"/>
                </a:rPr>
                <a:t>calendário</a:t>
              </a:r>
              <a:r>
                <a:rPr sz="900" b="0" i="0" u="none" dirty="0">
                  <a:solidFill>
                    <a:srgbClr val="334155"/>
                  </a:solidFill>
                  <a:latin typeface="Plus Jakarta Sans"/>
                </a:rPr>
                <a:t> e </a:t>
              </a:r>
              <a:r>
                <a:rPr sz="900" b="0" i="0" u="none" dirty="0" err="1">
                  <a:solidFill>
                    <a:srgbClr val="334155"/>
                  </a:solidFill>
                  <a:latin typeface="Plus Jakarta Sans"/>
                </a:rPr>
                <a:t>bloqueios</a:t>
              </a:r>
              <a:r>
                <a:rPr sz="900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900" b="0" i="0" u="none" dirty="0" err="1">
                  <a:solidFill>
                    <a:srgbClr val="334155"/>
                  </a:solidFill>
                  <a:latin typeface="Plus Jakarta Sans"/>
                </a:rPr>
                <a:t>ficam</a:t>
              </a:r>
              <a:r>
                <a:rPr sz="900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900" b="0" i="0" u="none" dirty="0" err="1">
                  <a:solidFill>
                    <a:srgbClr val="334155"/>
                  </a:solidFill>
                  <a:latin typeface="Plus Jakarta Sans"/>
                </a:rPr>
                <a:t>em</a:t>
              </a:r>
              <a:r>
                <a:rPr sz="900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900" b="0" i="0" u="none" dirty="0" err="1">
                  <a:solidFill>
                    <a:srgbClr val="334155"/>
                  </a:solidFill>
                  <a:latin typeface="Plus Jakarta Sans"/>
                </a:rPr>
                <a:t>tabelas</a:t>
              </a:r>
              <a:r>
                <a:rPr sz="900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900" b="0" i="0" u="none" dirty="0" err="1">
                  <a:solidFill>
                    <a:srgbClr val="334155"/>
                  </a:solidFill>
                  <a:latin typeface="Plus Jakarta Sans"/>
                </a:rPr>
                <a:t>próprias</a:t>
              </a:r>
              <a:r>
                <a:rPr sz="900" b="0" i="0" u="none" dirty="0">
                  <a:solidFill>
                    <a:srgbClr val="334155"/>
                  </a:solidFill>
                  <a:latin typeface="Plus Jakarta Sans"/>
                </a:rPr>
                <a:t>.</a:t>
              </a:r>
            </a:p>
          </p:txBody>
        </p:sp>
      </p:grpSp>
      <p:grpSp>
        <p:nvGrpSpPr>
          <p:cNvPr id="117" name="Agrupar 116">
            <a:extLst>
              <a:ext uri="{FF2B5EF4-FFF2-40B4-BE49-F238E27FC236}">
                <a16:creationId xmlns:a16="http://schemas.microsoft.com/office/drawing/2014/main" id="{E7AFEC64-98A8-46E9-AB79-9077D5C8B951}"/>
              </a:ext>
            </a:extLst>
          </p:cNvPr>
          <p:cNvGrpSpPr/>
          <p:nvPr/>
        </p:nvGrpSpPr>
        <p:grpSpPr>
          <a:xfrm>
            <a:off x="8077200" y="5773331"/>
            <a:ext cx="3657600" cy="556021"/>
            <a:chOff x="8077200" y="5920978"/>
            <a:chExt cx="3657600" cy="556021"/>
          </a:xfrm>
        </p:grpSpPr>
        <p:sp>
          <p:nvSpPr>
            <p:cNvPr id="7" name="Rounded Rectangle 6"/>
            <p:cNvSpPr/>
            <p:nvPr/>
          </p:nvSpPr>
          <p:spPr>
            <a:xfrm>
              <a:off x="8077200" y="5920978"/>
              <a:ext cx="3657600" cy="556021"/>
            </a:xfrm>
            <a:prstGeom prst="roundRect">
              <a:avLst>
                <a:gd name="adj" fmla="val 1370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39125" y="6084689"/>
              <a:ext cx="228600" cy="22860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096250" y="6129739"/>
              <a:ext cx="51435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i="0" u="none" dirty="0">
                  <a:solidFill>
                    <a:srgbClr val="FFFFFF"/>
                  </a:solidFill>
                  <a:latin typeface="Plus Jakarta Sans"/>
                </a:rPr>
                <a:t>3</a:t>
              </a:r>
              <a:r>
                <a:rPr lang="pt-BR" sz="900" b="1" i="0" u="none" dirty="0">
                  <a:solidFill>
                    <a:srgbClr val="FFFFFF"/>
                  </a:solidFill>
                  <a:latin typeface="Plus Jakarta Sans"/>
                </a:rPr>
                <a:t> </a:t>
              </a:r>
              <a:endParaRPr sz="900" b="1" i="0" u="none" dirty="0">
                <a:solidFill>
                  <a:srgbClr val="FFFFFF"/>
                </a:solidFill>
                <a:latin typeface="Plus Jakarta Sans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8582025" y="6044803"/>
            <a:ext cx="3086100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1" i="0" u="none">
                <a:solidFill>
                  <a:srgbClr val="0F172A"/>
                </a:solidFill>
                <a:latin typeface="Plus Jakarta Sans"/>
              </a:rPr>
              <a:t>Disponibilidade calculada:</a:t>
            </a:r>
            <a:r>
              <a:rPr sz="900" b="0" i="0" u="none">
                <a:solidFill>
                  <a:srgbClr val="334155"/>
                </a:solidFill>
                <a:latin typeface="Plus Jakarta Sans"/>
              </a:rPr>
              <a:t> O sistema junta as regras para saber se a sala está livre, sem alterar seu cadastro.</a:t>
            </a:r>
          </a:p>
        </p:txBody>
      </p: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63E7E38B-338A-4A06-97D3-6B1A82EF166F}"/>
              </a:ext>
            </a:extLst>
          </p:cNvPr>
          <p:cNvGrpSpPr/>
          <p:nvPr/>
        </p:nvGrpSpPr>
        <p:grpSpPr>
          <a:xfrm>
            <a:off x="695325" y="2925060"/>
            <a:ext cx="3583632" cy="342900"/>
            <a:chOff x="695325" y="3202781"/>
            <a:chExt cx="3583632" cy="514350"/>
          </a:xfrm>
        </p:grpSpPr>
        <p:sp>
          <p:nvSpPr>
            <p:cNvPr id="13" name="Rounded Rectangle 12"/>
            <p:cNvSpPr/>
            <p:nvPr/>
          </p:nvSpPr>
          <p:spPr>
            <a:xfrm>
              <a:off x="695325" y="3202781"/>
              <a:ext cx="3583632" cy="514350"/>
            </a:xfrm>
            <a:prstGeom prst="roundRect">
              <a:avLst>
                <a:gd name="adj" fmla="val 14814"/>
              </a:avLst>
            </a:prstGeom>
            <a:solidFill>
              <a:srgbClr val="F8FAFC"/>
            </a:solidFill>
            <a:ln w="9525">
              <a:solidFill>
                <a:srgbClr val="F1F5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4" name="Picture 33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14400" y="3393281"/>
              <a:ext cx="114300" cy="17145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238250" y="3374231"/>
              <a:ext cx="1666875" cy="1714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1E293B"/>
                  </a:solidFill>
                  <a:latin typeface="Plus Jakarta Sans"/>
                </a:rPr>
                <a:t>De quem é essa sala?</a:t>
              </a:r>
            </a:p>
          </p:txBody>
        </p:sp>
      </p:grp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F531FC00-17E2-4864-8B56-75E8829207FB}"/>
              </a:ext>
            </a:extLst>
          </p:cNvPr>
          <p:cNvGrpSpPr/>
          <p:nvPr/>
        </p:nvGrpSpPr>
        <p:grpSpPr>
          <a:xfrm>
            <a:off x="695325" y="3534660"/>
            <a:ext cx="3583632" cy="342900"/>
            <a:chOff x="695325" y="3812381"/>
            <a:chExt cx="3583632" cy="514350"/>
          </a:xfrm>
        </p:grpSpPr>
        <p:sp>
          <p:nvSpPr>
            <p:cNvPr id="14" name="Rounded Rectangle 13"/>
            <p:cNvSpPr/>
            <p:nvPr/>
          </p:nvSpPr>
          <p:spPr>
            <a:xfrm>
              <a:off x="695325" y="3812381"/>
              <a:ext cx="3583632" cy="514350"/>
            </a:xfrm>
            <a:prstGeom prst="roundRect">
              <a:avLst>
                <a:gd name="adj" fmla="val 14814"/>
              </a:avLst>
            </a:prstGeom>
            <a:solidFill>
              <a:srgbClr val="F8FAFC"/>
            </a:solidFill>
            <a:ln w="9525">
              <a:solidFill>
                <a:srgbClr val="F1F5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5" name="Picture 34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5825" y="4002881"/>
              <a:ext cx="171450" cy="171450"/>
            </a:xfrm>
            <a:prstGeom prst="rect">
              <a:avLst/>
            </a:prstGeom>
          </p:spPr>
        </p:pic>
        <p:sp>
          <p:nvSpPr>
            <p:cNvPr id="64" name="TextBox 63"/>
            <p:cNvSpPr txBox="1"/>
            <p:nvPr/>
          </p:nvSpPr>
          <p:spPr>
            <a:xfrm>
              <a:off x="1238250" y="3983831"/>
              <a:ext cx="1869281" cy="1714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1E293B"/>
                  </a:solidFill>
                  <a:latin typeface="Plus Jakarta Sans"/>
                </a:rPr>
                <a:t>O que tem dentro dela?</a:t>
              </a:r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33742508-D6D0-4563-B23C-E3A5A24D6DFF}"/>
              </a:ext>
            </a:extLst>
          </p:cNvPr>
          <p:cNvGrpSpPr/>
          <p:nvPr/>
        </p:nvGrpSpPr>
        <p:grpSpPr>
          <a:xfrm>
            <a:off x="695325" y="4144260"/>
            <a:ext cx="3583632" cy="342900"/>
            <a:chOff x="695325" y="4421981"/>
            <a:chExt cx="3583632" cy="514350"/>
          </a:xfrm>
        </p:grpSpPr>
        <p:sp>
          <p:nvSpPr>
            <p:cNvPr id="15" name="Rounded Rectangle 14"/>
            <p:cNvSpPr/>
            <p:nvPr/>
          </p:nvSpPr>
          <p:spPr>
            <a:xfrm>
              <a:off x="695325" y="4421981"/>
              <a:ext cx="3583632" cy="514350"/>
            </a:xfrm>
            <a:prstGeom prst="roundRect">
              <a:avLst>
                <a:gd name="adj" fmla="val 14814"/>
              </a:avLst>
            </a:prstGeom>
            <a:solidFill>
              <a:srgbClr val="F8FAFC"/>
            </a:solidFill>
            <a:ln w="9525">
              <a:solidFill>
                <a:srgbClr val="F1F5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6" name="Picture 35" descr="imag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04875" y="4612481"/>
              <a:ext cx="133350" cy="171450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1238250" y="4593431"/>
              <a:ext cx="1940718" cy="1714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1" i="0" u="none" dirty="0" err="1">
                  <a:solidFill>
                    <a:srgbClr val="1E293B"/>
                  </a:solidFill>
                  <a:latin typeface="Plus Jakarta Sans"/>
                </a:rPr>
                <a:t>Quando</a:t>
              </a:r>
              <a:r>
                <a:rPr sz="1050" b="1" i="0" u="none" dirty="0">
                  <a:solidFill>
                    <a:srgbClr val="1E293B"/>
                  </a:solidFill>
                  <a:latin typeface="Plus Jakarta Sans"/>
                </a:rPr>
                <a:t> </a:t>
              </a:r>
              <a:r>
                <a:rPr sz="1050" b="1" i="0" u="none" dirty="0" err="1">
                  <a:solidFill>
                    <a:srgbClr val="1E293B"/>
                  </a:solidFill>
                  <a:latin typeface="Plus Jakarta Sans"/>
                </a:rPr>
                <a:t>ela</a:t>
              </a:r>
              <a:r>
                <a:rPr sz="1050" b="1" i="0" u="none" dirty="0">
                  <a:solidFill>
                    <a:srgbClr val="1E293B"/>
                  </a:solidFill>
                  <a:latin typeface="Plus Jakarta Sans"/>
                </a:rPr>
                <a:t> </a:t>
              </a:r>
              <a:r>
                <a:rPr sz="1050" b="1" i="0" u="none" dirty="0" err="1">
                  <a:solidFill>
                    <a:srgbClr val="1E293B"/>
                  </a:solidFill>
                  <a:latin typeface="Plus Jakarta Sans"/>
                </a:rPr>
                <a:t>está</a:t>
              </a:r>
              <a:r>
                <a:rPr sz="1050" b="1" i="0" u="none" dirty="0">
                  <a:solidFill>
                    <a:srgbClr val="1E293B"/>
                  </a:solidFill>
                  <a:latin typeface="Plus Jakarta Sans"/>
                </a:rPr>
                <a:t> </a:t>
              </a:r>
              <a:r>
                <a:rPr sz="1050" b="1" i="0" u="none" dirty="0" err="1">
                  <a:solidFill>
                    <a:srgbClr val="1E293B"/>
                  </a:solidFill>
                  <a:latin typeface="Plus Jakarta Sans"/>
                </a:rPr>
                <a:t>aberta</a:t>
              </a:r>
              <a:r>
                <a:rPr sz="1050" b="1" i="0" u="none" dirty="0">
                  <a:solidFill>
                    <a:srgbClr val="1E293B"/>
                  </a:solidFill>
                  <a:latin typeface="Plus Jakarta Sans"/>
                </a:rPr>
                <a:t>?</a:t>
              </a:r>
            </a:p>
          </p:txBody>
        </p: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2D132B0B-C8F3-471E-B79B-4655DAD34149}"/>
              </a:ext>
            </a:extLst>
          </p:cNvPr>
          <p:cNvGrpSpPr/>
          <p:nvPr/>
        </p:nvGrpSpPr>
        <p:grpSpPr>
          <a:xfrm>
            <a:off x="695325" y="4746240"/>
            <a:ext cx="3583632" cy="342900"/>
            <a:chOff x="695325" y="5031581"/>
            <a:chExt cx="3583632" cy="514350"/>
          </a:xfrm>
        </p:grpSpPr>
        <p:sp>
          <p:nvSpPr>
            <p:cNvPr id="16" name="Rounded Rectangle 15"/>
            <p:cNvSpPr/>
            <p:nvPr/>
          </p:nvSpPr>
          <p:spPr>
            <a:xfrm>
              <a:off x="695325" y="5031581"/>
              <a:ext cx="3583632" cy="514350"/>
            </a:xfrm>
            <a:prstGeom prst="roundRect">
              <a:avLst>
                <a:gd name="adj" fmla="val 14814"/>
              </a:avLst>
            </a:prstGeom>
            <a:solidFill>
              <a:srgbClr val="F8FAFC"/>
            </a:solidFill>
            <a:ln w="9525">
              <a:solidFill>
                <a:srgbClr val="F1F5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7" name="Picture 36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04875" y="5222080"/>
              <a:ext cx="133350" cy="168575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1238250" y="5203031"/>
              <a:ext cx="1690687" cy="1714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1E293B"/>
                  </a:solidFill>
                  <a:latin typeface="Plus Jakarta Sans"/>
                </a:rPr>
                <a:t>Está bloqueada hoje?</a:t>
              </a:r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F1E991B5-5C5B-44DC-BB6A-C4CF99F16B6B}"/>
              </a:ext>
            </a:extLst>
          </p:cNvPr>
          <p:cNvGrpSpPr/>
          <p:nvPr/>
        </p:nvGrpSpPr>
        <p:grpSpPr>
          <a:xfrm>
            <a:off x="695325" y="5332980"/>
            <a:ext cx="3583632" cy="342900"/>
            <a:chOff x="695325" y="5641181"/>
            <a:chExt cx="3583632" cy="514350"/>
          </a:xfrm>
        </p:grpSpPr>
        <p:sp>
          <p:nvSpPr>
            <p:cNvPr id="17" name="Rounded Rectangle 16"/>
            <p:cNvSpPr/>
            <p:nvPr/>
          </p:nvSpPr>
          <p:spPr>
            <a:xfrm>
              <a:off x="695325" y="5641181"/>
              <a:ext cx="3583632" cy="514350"/>
            </a:xfrm>
            <a:prstGeom prst="roundRect">
              <a:avLst>
                <a:gd name="adj" fmla="val 14814"/>
              </a:avLst>
            </a:prstGeom>
            <a:solidFill>
              <a:srgbClr val="F8FAFC"/>
            </a:solidFill>
            <a:ln w="9525">
              <a:solidFill>
                <a:srgbClr val="F1F5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8" name="Picture 37" descr="image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95350" y="5831681"/>
              <a:ext cx="152400" cy="171450"/>
            </a:xfrm>
            <a:prstGeom prst="rect">
              <a:avLst/>
            </a:prstGeom>
          </p:spPr>
        </p:pic>
        <p:sp>
          <p:nvSpPr>
            <p:cNvPr id="67" name="TextBox 66"/>
            <p:cNvSpPr txBox="1"/>
            <p:nvPr/>
          </p:nvSpPr>
          <p:spPr>
            <a:xfrm>
              <a:off x="1238250" y="5812631"/>
              <a:ext cx="1488281" cy="1714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1E293B"/>
                  </a:solidFill>
                  <a:latin typeface="Plus Jakarta Sans"/>
                </a:rPr>
                <a:t>Que tipo de sala é?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4310053" y="4682728"/>
            <a:ext cx="7936576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64748B"/>
                </a:solidFill>
                <a:latin typeface="Plus Jakarta Sans"/>
              </a:rPr>
              <a:t>O QUE SAI DA SALA (OPERAÇÕES E HISTÓRICO)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60007" y="2195512"/>
            <a:ext cx="165496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66534"/>
                </a:solidFill>
                <a:latin typeface="Plus Jakarta Sans"/>
              </a:rPr>
              <a:t>Tipo de Sala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60007" y="2814637"/>
            <a:ext cx="165496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66534"/>
                </a:solidFill>
                <a:latin typeface="Plus Jakarta Sans"/>
              </a:rPr>
              <a:t>Equipamentos da Sala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60007" y="3576637"/>
            <a:ext cx="165496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66534"/>
                </a:solidFill>
                <a:latin typeface="Plus Jakarta Sans"/>
              </a:rPr>
              <a:t>Bloqueios Manuais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41557" y="2195512"/>
            <a:ext cx="165496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 err="1">
                <a:solidFill>
                  <a:srgbClr val="166534"/>
                </a:solidFill>
                <a:latin typeface="Plus Jakarta Sans"/>
              </a:rPr>
              <a:t>Catálogo</a:t>
            </a:r>
            <a:r>
              <a:rPr sz="900" b="1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900" b="1" i="0" u="none" dirty="0" err="1">
                <a:solidFill>
                  <a:srgbClr val="166534"/>
                </a:solidFill>
                <a:latin typeface="Plus Jakarta Sans"/>
              </a:rPr>
              <a:t>Equipamentos</a:t>
            </a:r>
            <a:endParaRPr sz="900" b="1" i="0" u="none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841557" y="2957512"/>
            <a:ext cx="165496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66534"/>
                </a:solidFill>
                <a:latin typeface="Plus Jakarta Sans"/>
              </a:rPr>
              <a:t>Regras de Horário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41557" y="3576637"/>
            <a:ext cx="165496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66534"/>
                </a:solidFill>
                <a:latin typeface="Plus Jakarta Sans"/>
              </a:rPr>
              <a:t>Calendário Geral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54166" y="5233431"/>
            <a:ext cx="857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 err="1">
                <a:solidFill>
                  <a:srgbClr val="3730A3"/>
                </a:solidFill>
                <a:latin typeface="Plus Jakarta Sans"/>
              </a:rPr>
              <a:t>Reservas</a:t>
            </a:r>
            <a:endParaRPr sz="975" b="1" i="0" u="none" dirty="0">
              <a:solidFill>
                <a:srgbClr val="3730A3"/>
              </a:solidFill>
              <a:latin typeface="Plus Jakarta San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459116" y="5233431"/>
            <a:ext cx="1200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730A3"/>
                </a:solidFill>
                <a:latin typeface="Plus Jakarta Sans"/>
              </a:rPr>
              <a:t>Check-in / Out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76727" y="5233431"/>
            <a:ext cx="1695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 err="1">
                <a:solidFill>
                  <a:srgbClr val="3730A3"/>
                </a:solidFill>
                <a:latin typeface="Plus Jakarta Sans"/>
              </a:rPr>
              <a:t>Limpeza</a:t>
            </a:r>
            <a:r>
              <a:rPr sz="975" b="1" i="0" u="none" dirty="0">
                <a:solidFill>
                  <a:srgbClr val="3730A3"/>
                </a:solidFill>
                <a:latin typeface="Plus Jakarta Sans"/>
              </a:rPr>
              <a:t> / </a:t>
            </a:r>
            <a:r>
              <a:rPr sz="975" b="1" i="0" u="none" dirty="0" err="1">
                <a:solidFill>
                  <a:srgbClr val="3730A3"/>
                </a:solidFill>
                <a:latin typeface="Plus Jakarta Sans"/>
              </a:rPr>
              <a:t>Manutenção</a:t>
            </a:r>
            <a:endParaRPr sz="975" b="1" i="0" u="none" dirty="0">
              <a:solidFill>
                <a:srgbClr val="3730A3"/>
              </a:solidFill>
              <a:latin typeface="Plus Jakarta Sans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7468641" y="1828800"/>
            <a:ext cx="1619250" cy="361950"/>
          </a:xfrm>
          <a:prstGeom prst="roundRect">
            <a:avLst>
              <a:gd name="adj" fmla="val 21052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7325766" y="3600450"/>
            <a:ext cx="1905000" cy="504825"/>
          </a:xfrm>
          <a:prstGeom prst="roundRect">
            <a:avLst>
              <a:gd name="adj" fmla="val 15094"/>
            </a:avLst>
          </a:prstGeom>
          <a:solidFill>
            <a:srgbClr val="F59E0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140154" y="2305050"/>
            <a:ext cx="276225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816179" y="2714625"/>
            <a:ext cx="1619250" cy="361950"/>
          </a:xfrm>
          <a:prstGeom prst="roundRect">
            <a:avLst>
              <a:gd name="adj" fmla="val 21052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8692604" y="2771775"/>
            <a:ext cx="1047750" cy="247650"/>
          </a:xfrm>
          <a:prstGeom prst="roundRect">
            <a:avLst>
              <a:gd name="adj" fmla="val 3076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8140154" y="3190875"/>
            <a:ext cx="276225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06779" y="1952625"/>
            <a:ext cx="152400" cy="123825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40166" y="2495550"/>
            <a:ext cx="76200" cy="104775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11629" y="2838450"/>
            <a:ext cx="104775" cy="114300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40166" y="3381375"/>
            <a:ext cx="76200" cy="104775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44891" y="3781425"/>
            <a:ext cx="171450" cy="152400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11479" y="2838450"/>
            <a:ext cx="152400" cy="123825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380535" y="1924050"/>
            <a:ext cx="17954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Plus Jakarta Sans"/>
              </a:rPr>
              <a:t>Proprietário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0991" y="3733800"/>
            <a:ext cx="21145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SALA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97304" y="2324100"/>
            <a:ext cx="2571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2563EB"/>
                </a:solidFill>
                <a:latin typeface="Plus Jakarta Sans"/>
              </a:rPr>
              <a:t>1:N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28073" y="2809875"/>
            <a:ext cx="1795462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75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FFFFFF"/>
                </a:solidFill>
                <a:latin typeface="Plus Jakarta Sans"/>
              </a:rPr>
              <a:t>Imóvel</a:t>
            </a:r>
            <a:endParaRPr sz="975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606879" y="2828925"/>
            <a:ext cx="12192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66534"/>
                </a:solidFill>
                <a:latin typeface="Plus Jakarta Sans"/>
              </a:rPr>
              <a:t>Horários do Imóvel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97304" y="3209925"/>
            <a:ext cx="2571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2563EB"/>
                </a:solidFill>
                <a:latin typeface="Plus Jakarta Sans"/>
              </a:rPr>
              <a:t>1:N</a:t>
            </a:r>
          </a:p>
        </p:txBody>
      </p:sp>
      <p:sp>
        <p:nvSpPr>
          <p:cNvPr id="111" name="Retângulo 110">
            <a:extLst>
              <a:ext uri="{FF2B5EF4-FFF2-40B4-BE49-F238E27FC236}">
                <a16:creationId xmlns:a16="http://schemas.microsoft.com/office/drawing/2014/main" id="{397EA4F9-49A5-4ABE-8490-7495C3156DE1}"/>
              </a:ext>
            </a:extLst>
          </p:cNvPr>
          <p:cNvSpPr/>
          <p:nvPr/>
        </p:nvSpPr>
        <p:spPr>
          <a:xfrm>
            <a:off x="0" y="0"/>
            <a:ext cx="8877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8" name="Agrupar 117">
            <a:extLst>
              <a:ext uri="{FF2B5EF4-FFF2-40B4-BE49-F238E27FC236}">
                <a16:creationId xmlns:a16="http://schemas.microsoft.com/office/drawing/2014/main" id="{6FFE895B-6BD3-486B-8639-AA3AA8B136EA}"/>
              </a:ext>
            </a:extLst>
          </p:cNvPr>
          <p:cNvGrpSpPr/>
          <p:nvPr/>
        </p:nvGrpSpPr>
        <p:grpSpPr>
          <a:xfrm>
            <a:off x="457199" y="6368579"/>
            <a:ext cx="11277601" cy="398473"/>
            <a:chOff x="340522" y="6437081"/>
            <a:chExt cx="11277601" cy="398473"/>
          </a:xfrm>
        </p:grpSpPr>
        <p:sp>
          <p:nvSpPr>
            <p:cNvPr id="112" name="Rectangle 1">
              <a:extLst>
                <a:ext uri="{FF2B5EF4-FFF2-40B4-BE49-F238E27FC236}">
                  <a16:creationId xmlns:a16="http://schemas.microsoft.com/office/drawing/2014/main" id="{7E12F50C-69EC-46D0-B059-80805AD48912}"/>
                </a:ext>
              </a:extLst>
            </p:cNvPr>
            <p:cNvSpPr/>
            <p:nvPr/>
          </p:nvSpPr>
          <p:spPr>
            <a:xfrm>
              <a:off x="340523" y="6437081"/>
              <a:ext cx="11277600" cy="398473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Rectangle 2">
              <a:extLst>
                <a:ext uri="{FF2B5EF4-FFF2-40B4-BE49-F238E27FC236}">
                  <a16:creationId xmlns:a16="http://schemas.microsoft.com/office/drawing/2014/main" id="{D7676B5C-447F-4973-B804-4EA41AA71CB3}"/>
                </a:ext>
              </a:extLst>
            </p:cNvPr>
            <p:cNvSpPr/>
            <p:nvPr/>
          </p:nvSpPr>
          <p:spPr>
            <a:xfrm>
              <a:off x="340522" y="6437081"/>
              <a:ext cx="45719" cy="398473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TextBox 23">
              <a:extLst>
                <a:ext uri="{FF2B5EF4-FFF2-40B4-BE49-F238E27FC236}">
                  <a16:creationId xmlns:a16="http://schemas.microsoft.com/office/drawing/2014/main" id="{36290668-3083-495B-893B-6C44580C4BA6}"/>
                </a:ext>
              </a:extLst>
            </p:cNvPr>
            <p:cNvSpPr txBox="1"/>
            <p:nvPr/>
          </p:nvSpPr>
          <p:spPr>
            <a:xfrm>
              <a:off x="492923" y="6532331"/>
              <a:ext cx="11068050" cy="1676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pt-BR" sz="975" b="1" i="0" u="none" dirty="0">
                  <a:solidFill>
                    <a:srgbClr val="1E293B"/>
                  </a:solidFill>
                  <a:latin typeface="Plus Jakarta Sans"/>
                </a:rPr>
                <a:t>Observação:</a:t>
              </a:r>
              <a:r>
                <a:rPr lang="pt-BR" sz="975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pt-BR" sz="975" dirty="0">
                  <a:solidFill>
                    <a:srgbClr val="475569"/>
                  </a:solidFill>
                  <a:latin typeface="Plus Jakarta Sans"/>
                </a:rPr>
                <a:t>Entre a primeira e a segunda entrega, foi realizada uma alteração na estrutura da tabela Reserva, com a remoção dos campos ID_IMOVEL e ID_PROPRIETARIO.</a:t>
              </a:r>
              <a:endParaRPr sz="975" b="0" i="0" u="none" dirty="0">
                <a:solidFill>
                  <a:srgbClr val="475569"/>
                </a:solidFill>
                <a:latin typeface="Plus Jakarta Sans"/>
              </a:endParaRPr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9D104F69-4CFC-49CC-A6BC-93F491AE733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75472" y="1752710"/>
            <a:ext cx="6692653" cy="32484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457200" y="1086445"/>
            <a:ext cx="5353050" cy="1790700"/>
          </a:xfrm>
          <a:prstGeom prst="roundRect">
            <a:avLst>
              <a:gd name="adj" fmla="val 3636"/>
            </a:avLst>
          </a:prstGeom>
          <a:solidFill>
            <a:srgbClr val="FEF2F2"/>
          </a:solidFill>
          <a:ln w="190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310282"/>
            <a:ext cx="171450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7200" y="30480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F3A5F"/>
                </a:solidFill>
                <a:latin typeface="Inter"/>
              </a:rPr>
              <a:t>Compra que chega pela metade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62880"/>
            <a:ext cx="11734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E8590C"/>
                </a:solidFill>
                <a:latin typeface="Inter"/>
              </a:rPr>
              <a:t>Decisão de modelagem: recebimentos parciais de compras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86B7897D-7620-4DA3-80F3-2309361B9E57}"/>
              </a:ext>
            </a:extLst>
          </p:cNvPr>
          <p:cNvGrpSpPr/>
          <p:nvPr/>
        </p:nvGrpSpPr>
        <p:grpSpPr>
          <a:xfrm>
            <a:off x="457200" y="6380701"/>
            <a:ext cx="11277600" cy="423953"/>
            <a:chOff x="457200" y="6123526"/>
            <a:chExt cx="11277600" cy="423953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6123526"/>
              <a:ext cx="11277600" cy="423953"/>
            </a:xfrm>
            <a:prstGeom prst="roundRect">
              <a:avLst>
                <a:gd name="adj" fmla="val 13333"/>
              </a:avLst>
            </a:prstGeom>
            <a:solidFill>
              <a:srgbClr val="1F3A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71600" y="6167437"/>
              <a:ext cx="1914525" cy="352425"/>
            </a:xfrm>
            <a:prstGeom prst="roundRect">
              <a:avLst>
                <a:gd name="adj" fmla="val 1621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743325" y="6167437"/>
              <a:ext cx="1590675" cy="352425"/>
            </a:xfrm>
            <a:prstGeom prst="roundRect">
              <a:avLst>
                <a:gd name="adj" fmla="val 1621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791200" y="6167437"/>
              <a:ext cx="2447925" cy="352425"/>
            </a:xfrm>
            <a:prstGeom prst="roundRect">
              <a:avLst>
                <a:gd name="adj" fmla="val 1621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696325" y="6167437"/>
              <a:ext cx="2124075" cy="352425"/>
            </a:xfrm>
            <a:prstGeom prst="roundRect">
              <a:avLst>
                <a:gd name="adj" fmla="val 1621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3" name="Picture 22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8525" y="6257925"/>
              <a:ext cx="152400" cy="171450"/>
            </a:xfrm>
            <a:prstGeom prst="rect">
              <a:avLst/>
            </a:prstGeom>
          </p:spPr>
        </p:pic>
        <p:pic>
          <p:nvPicPr>
            <p:cNvPr id="24" name="Picture 23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0" y="6257925"/>
              <a:ext cx="152400" cy="171450"/>
            </a:xfrm>
            <a:prstGeom prst="rect">
              <a:avLst/>
            </a:prstGeom>
          </p:spPr>
        </p:pic>
        <p:pic>
          <p:nvPicPr>
            <p:cNvPr id="25" name="Picture 24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1525" y="6257925"/>
              <a:ext cx="152400" cy="17145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1524000" y="6243637"/>
              <a:ext cx="1704975" cy="2000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 dirty="0" err="1">
                  <a:solidFill>
                    <a:srgbClr val="1F3A5F"/>
                  </a:solidFill>
                  <a:latin typeface="Inter"/>
                </a:rPr>
                <a:t>Pedidos</a:t>
              </a:r>
              <a:r>
                <a:rPr sz="1350" b="1" i="0" u="none" dirty="0">
                  <a:solidFill>
                    <a:srgbClr val="1F3A5F"/>
                  </a:solidFill>
                  <a:latin typeface="Inter"/>
                </a:rPr>
                <a:t> de </a:t>
              </a:r>
              <a:r>
                <a:rPr sz="1350" b="1" i="0" u="none" dirty="0" err="1">
                  <a:solidFill>
                    <a:srgbClr val="1F3A5F"/>
                  </a:solidFill>
                  <a:latin typeface="Inter"/>
                </a:rPr>
                <a:t>Compra</a:t>
              </a:r>
              <a:endParaRPr sz="1350" b="1" i="0" u="none" dirty="0">
                <a:solidFill>
                  <a:srgbClr val="1F3A5F"/>
                </a:solidFill>
                <a:latin typeface="Inter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895725" y="6243637"/>
              <a:ext cx="1381125" cy="2000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 dirty="0" err="1">
                  <a:solidFill>
                    <a:srgbClr val="1F3A5F"/>
                  </a:solidFill>
                  <a:latin typeface="Inter"/>
                </a:rPr>
                <a:t>Itens</a:t>
              </a:r>
              <a:r>
                <a:rPr sz="1350" b="1" i="0" u="none" dirty="0">
                  <a:solidFill>
                    <a:srgbClr val="1F3A5F"/>
                  </a:solidFill>
                  <a:latin typeface="Inter"/>
                </a:rPr>
                <a:t> do </a:t>
              </a:r>
              <a:r>
                <a:rPr sz="1350" b="1" i="0" u="none" dirty="0" err="1">
                  <a:solidFill>
                    <a:srgbClr val="1F3A5F"/>
                  </a:solidFill>
                  <a:latin typeface="Inter"/>
                </a:rPr>
                <a:t>Pedido</a:t>
              </a:r>
              <a:endParaRPr sz="1350" b="1" i="0" u="none" dirty="0">
                <a:solidFill>
                  <a:srgbClr val="1F3A5F"/>
                </a:solidFill>
                <a:latin typeface="Inter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943600" y="6243637"/>
              <a:ext cx="2238375" cy="2000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1F3A5F"/>
                  </a:solidFill>
                  <a:latin typeface="Inter"/>
                </a:rPr>
                <a:t>Recebimentos de Compra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848725" y="6243637"/>
              <a:ext cx="1914525" cy="2000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1F3A5F"/>
                  </a:solidFill>
                  <a:latin typeface="Inter"/>
                </a:rPr>
                <a:t>Itens do Recebimento</a:t>
              </a: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E305208D-BC8A-4431-A64C-0630915D750C}"/>
              </a:ext>
            </a:extLst>
          </p:cNvPr>
          <p:cNvGrpSpPr/>
          <p:nvPr/>
        </p:nvGrpSpPr>
        <p:grpSpPr>
          <a:xfrm>
            <a:off x="457200" y="5396210"/>
            <a:ext cx="2733675" cy="922140"/>
            <a:chOff x="457200" y="4519910"/>
            <a:chExt cx="2733675" cy="142875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4519910"/>
              <a:ext cx="2733675" cy="1428750"/>
            </a:xfrm>
            <a:prstGeom prst="roundRect">
              <a:avLst>
                <a:gd name="adj" fmla="val 5333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7200" y="4519910"/>
              <a:ext cx="2733675" cy="381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7" name="Picture 26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550" y="4710410"/>
              <a:ext cx="152400" cy="184665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800100" y="4694277"/>
              <a:ext cx="807657" cy="18466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1" i="0" u="none" dirty="0">
                  <a:solidFill>
                    <a:srgbClr val="1F3A5F"/>
                  </a:solidFill>
                  <a:latin typeface="Inter"/>
                </a:rPr>
                <a:t>1. </a:t>
              </a:r>
              <a:r>
                <a:rPr sz="1200" b="1" i="0" u="none" dirty="0" err="1">
                  <a:solidFill>
                    <a:srgbClr val="1F3A5F"/>
                  </a:solidFill>
                  <a:latin typeface="Inter"/>
                </a:rPr>
                <a:t>Problema</a:t>
              </a:r>
              <a:r>
                <a:rPr lang="pt-BR" sz="1200" b="1" i="0" u="none" dirty="0">
                  <a:solidFill>
                    <a:srgbClr val="1F3A5F"/>
                  </a:solidFill>
                  <a:latin typeface="Inter"/>
                </a:rPr>
                <a:t> </a:t>
              </a:r>
              <a:endParaRPr sz="1200" b="1" i="0" u="none" dirty="0">
                <a:solidFill>
                  <a:srgbClr val="1F3A5F"/>
                </a:solidFill>
                <a:latin typeface="Inter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90550" y="4958060"/>
              <a:ext cx="2562225" cy="4455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754"/>
                </a:lnSpc>
              </a:pP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O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pedido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só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tinha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uma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data de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recebimento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.</a:t>
              </a:r>
            </a:p>
          </p:txBody>
        </p:sp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4B91EC3E-A2D7-452D-AAB4-9E7B30E48549}"/>
              </a:ext>
            </a:extLst>
          </p:cNvPr>
          <p:cNvGrpSpPr/>
          <p:nvPr/>
        </p:nvGrpSpPr>
        <p:grpSpPr>
          <a:xfrm>
            <a:off x="3305175" y="5396210"/>
            <a:ext cx="2733675" cy="922140"/>
            <a:chOff x="3305175" y="4519910"/>
            <a:chExt cx="2733675" cy="1428750"/>
          </a:xfrm>
        </p:grpSpPr>
        <p:sp>
          <p:nvSpPr>
            <p:cNvPr id="4" name="Rounded Rectangle 3"/>
            <p:cNvSpPr/>
            <p:nvPr/>
          </p:nvSpPr>
          <p:spPr>
            <a:xfrm>
              <a:off x="3305175" y="4519910"/>
              <a:ext cx="2733675" cy="1428750"/>
            </a:xfrm>
            <a:prstGeom prst="roundRect">
              <a:avLst>
                <a:gd name="adj" fmla="val 5333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305175" y="4519910"/>
              <a:ext cx="2733675" cy="38100"/>
            </a:xfrm>
            <a:prstGeom prst="rect">
              <a:avLst/>
            </a:prstGeom>
            <a:solidFill>
              <a:srgbClr val="E859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8" name="Picture 27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8525" y="4710410"/>
              <a:ext cx="114300" cy="184665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3609975" y="4694277"/>
              <a:ext cx="687689" cy="18466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1" i="0" u="none" dirty="0">
                  <a:solidFill>
                    <a:srgbClr val="1F3A5F"/>
                  </a:solidFill>
                  <a:latin typeface="Inter"/>
                </a:rPr>
                <a:t>2. </a:t>
              </a:r>
              <a:r>
                <a:rPr sz="1200" b="1" i="0" u="none" dirty="0" err="1">
                  <a:solidFill>
                    <a:srgbClr val="1F3A5F"/>
                  </a:solidFill>
                  <a:latin typeface="Inter"/>
                </a:rPr>
                <a:t>Decisão</a:t>
              </a:r>
              <a:r>
                <a:rPr lang="pt-BR" sz="1200" b="1" i="0" u="none" dirty="0">
                  <a:solidFill>
                    <a:srgbClr val="1F3A5F"/>
                  </a:solidFill>
                  <a:latin typeface="Inter"/>
                </a:rPr>
                <a:t> </a:t>
              </a:r>
              <a:endParaRPr sz="1200" b="1" i="0" u="none" dirty="0">
                <a:solidFill>
                  <a:srgbClr val="1F3A5F"/>
                </a:solidFill>
                <a:latin typeface="Inter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438525" y="4958060"/>
              <a:ext cx="2562225" cy="6683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754"/>
                </a:lnSpc>
              </a:pP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Criar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Recebimentos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de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Compra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e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Itens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do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Recebimento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.</a:t>
              </a:r>
            </a:p>
          </p:txBody>
        </p:sp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92DBEE0A-0E3C-41E7-856C-27D5CA651248}"/>
              </a:ext>
            </a:extLst>
          </p:cNvPr>
          <p:cNvGrpSpPr/>
          <p:nvPr/>
        </p:nvGrpSpPr>
        <p:grpSpPr>
          <a:xfrm>
            <a:off x="6153150" y="5396210"/>
            <a:ext cx="2733675" cy="922140"/>
            <a:chOff x="6153150" y="4519910"/>
            <a:chExt cx="2733675" cy="1428750"/>
          </a:xfrm>
        </p:grpSpPr>
        <p:sp>
          <p:nvSpPr>
            <p:cNvPr id="5" name="Rounded Rectangle 4"/>
            <p:cNvSpPr/>
            <p:nvPr/>
          </p:nvSpPr>
          <p:spPr>
            <a:xfrm>
              <a:off x="6153150" y="4519910"/>
              <a:ext cx="2733675" cy="1428750"/>
            </a:xfrm>
            <a:prstGeom prst="roundRect">
              <a:avLst>
                <a:gd name="adj" fmla="val 5333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153150" y="4519910"/>
              <a:ext cx="2733675" cy="3810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9" name="Picture 28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86500" y="4710410"/>
              <a:ext cx="152400" cy="184665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6496050" y="4694277"/>
              <a:ext cx="686791" cy="18466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1" i="0" u="none" dirty="0">
                  <a:solidFill>
                    <a:srgbClr val="1F3A5F"/>
                  </a:solidFill>
                  <a:latin typeface="Inter"/>
                </a:rPr>
                <a:t>3. Por </a:t>
              </a:r>
              <a:r>
                <a:rPr sz="1200" b="1" i="0" u="none" dirty="0" err="1">
                  <a:solidFill>
                    <a:srgbClr val="1F3A5F"/>
                  </a:solidFill>
                  <a:latin typeface="Inter"/>
                </a:rPr>
                <a:t>quê</a:t>
              </a:r>
              <a:r>
                <a:rPr lang="pt-BR" sz="1200" b="1" i="0" u="none" dirty="0">
                  <a:solidFill>
                    <a:srgbClr val="1F3A5F"/>
                  </a:solidFill>
                  <a:latin typeface="Inter"/>
                </a:rPr>
                <a:t> </a:t>
              </a:r>
              <a:endParaRPr sz="1200" b="1" i="0" u="none" dirty="0">
                <a:solidFill>
                  <a:srgbClr val="1F3A5F"/>
                </a:solidFill>
                <a:latin typeface="Inter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286500" y="4958060"/>
              <a:ext cx="2562225" cy="6683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754"/>
                </a:lnSpc>
              </a:pP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Um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pedido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tem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várias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entregas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;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quantidade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e data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pertencem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à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entrega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.</a:t>
              </a:r>
            </a:p>
          </p:txBody>
        </p:sp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1C082BD2-7513-4F7B-BA9A-A0BB7663D813}"/>
              </a:ext>
            </a:extLst>
          </p:cNvPr>
          <p:cNvGrpSpPr/>
          <p:nvPr/>
        </p:nvGrpSpPr>
        <p:grpSpPr>
          <a:xfrm>
            <a:off x="9001125" y="5396210"/>
            <a:ext cx="2733675" cy="922140"/>
            <a:chOff x="9001125" y="4519910"/>
            <a:chExt cx="2733675" cy="1428750"/>
          </a:xfrm>
        </p:grpSpPr>
        <p:sp>
          <p:nvSpPr>
            <p:cNvPr id="6" name="Rounded Rectangle 5"/>
            <p:cNvSpPr/>
            <p:nvPr/>
          </p:nvSpPr>
          <p:spPr>
            <a:xfrm>
              <a:off x="9001125" y="4519910"/>
              <a:ext cx="2733675" cy="1428750"/>
            </a:xfrm>
            <a:prstGeom prst="roundRect">
              <a:avLst>
                <a:gd name="adj" fmla="val 5333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001125" y="4519910"/>
              <a:ext cx="2733675" cy="381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0" name="Picture 29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34475" y="4710408"/>
              <a:ext cx="152400" cy="184667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9344025" y="4694277"/>
              <a:ext cx="1322093" cy="18466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1" i="0" u="none" dirty="0">
                  <a:solidFill>
                    <a:srgbClr val="1F3A5F"/>
                  </a:solidFill>
                  <a:latin typeface="Inter"/>
                </a:rPr>
                <a:t>4. Se fosse </a:t>
              </a:r>
              <a:r>
                <a:rPr sz="1200" b="1" i="0" u="none" dirty="0" err="1">
                  <a:solidFill>
                    <a:srgbClr val="1F3A5F"/>
                  </a:solidFill>
                  <a:latin typeface="Inter"/>
                </a:rPr>
                <a:t>diferente</a:t>
              </a:r>
              <a:r>
                <a:rPr lang="pt-BR" sz="1200" b="1" i="0" u="none" dirty="0">
                  <a:solidFill>
                    <a:srgbClr val="1F3A5F"/>
                  </a:solidFill>
                  <a:latin typeface="Inter"/>
                </a:rPr>
                <a:t> </a:t>
              </a:r>
              <a:endParaRPr sz="1200" b="1" i="0" u="none" dirty="0">
                <a:solidFill>
                  <a:srgbClr val="1F3A5F"/>
                </a:solidFill>
                <a:latin typeface="Inter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134475" y="4958060"/>
              <a:ext cx="2562225" cy="4455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754"/>
                </a:lnSpc>
              </a:pP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A 2ª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entrega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apagaria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a 1ª e o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histórico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 se </a:t>
              </a:r>
              <a:r>
                <a:rPr sz="1350" b="0" i="0" u="none" dirty="0" err="1">
                  <a:solidFill>
                    <a:srgbClr val="334155"/>
                  </a:solidFill>
                  <a:latin typeface="Inter"/>
                </a:rPr>
                <a:t>perderia</a:t>
              </a: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.</a:t>
              </a:r>
            </a:p>
          </p:txBody>
        </p: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A8C67E3F-9B5C-40DE-AC3B-BA553B6ED50D}"/>
              </a:ext>
            </a:extLst>
          </p:cNvPr>
          <p:cNvGrpSpPr/>
          <p:nvPr/>
        </p:nvGrpSpPr>
        <p:grpSpPr>
          <a:xfrm>
            <a:off x="666750" y="1548407"/>
            <a:ext cx="4933950" cy="647700"/>
            <a:chOff x="666750" y="2186582"/>
            <a:chExt cx="4933950" cy="647700"/>
          </a:xfrm>
        </p:grpSpPr>
        <p:sp>
          <p:nvSpPr>
            <p:cNvPr id="17" name="Rounded Rectangle 16"/>
            <p:cNvSpPr/>
            <p:nvPr/>
          </p:nvSpPr>
          <p:spPr>
            <a:xfrm>
              <a:off x="666750" y="2186582"/>
              <a:ext cx="4933950" cy="647700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19150" y="2300882"/>
              <a:ext cx="4724400" cy="4191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1E293B"/>
                  </a:solidFill>
                  <a:latin typeface="Inter"/>
                </a:rPr>
                <a:t>Pedido nº 045 | 10 unidades de álcool 70% | Recebido em: 05/11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933450" y="1295995"/>
            <a:ext cx="876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Inter"/>
              </a:rPr>
              <a:t>ANTES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A48DEC7B-5FBA-4E04-8147-E4A70F3A7777}"/>
              </a:ext>
            </a:extLst>
          </p:cNvPr>
          <p:cNvGrpSpPr/>
          <p:nvPr/>
        </p:nvGrpSpPr>
        <p:grpSpPr>
          <a:xfrm>
            <a:off x="666750" y="2296120"/>
            <a:ext cx="4933950" cy="276225"/>
            <a:chOff x="666750" y="3524845"/>
            <a:chExt cx="4933950" cy="276225"/>
          </a:xfrm>
        </p:grpSpPr>
        <p:sp>
          <p:nvSpPr>
            <p:cNvPr id="18" name="Rounded Rectangle 17"/>
            <p:cNvSpPr/>
            <p:nvPr/>
          </p:nvSpPr>
          <p:spPr>
            <a:xfrm>
              <a:off x="666750" y="3524845"/>
              <a:ext cx="4933950" cy="276225"/>
            </a:xfrm>
            <a:prstGeom prst="roundRect">
              <a:avLst>
                <a:gd name="adj" fmla="val 15384"/>
              </a:avLst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2" name="Picture 31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90662" y="3548656"/>
              <a:ext cx="266700" cy="233363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1871662" y="3548657"/>
              <a:ext cx="3631406" cy="2000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dirty="0" err="1">
                  <a:solidFill>
                    <a:srgbClr val="991B1B"/>
                  </a:solidFill>
                  <a:latin typeface="Inter"/>
                </a:rPr>
                <a:t>Recebeu</a:t>
              </a:r>
              <a:r>
                <a:rPr sz="1350" b="1" i="0" u="none" dirty="0">
                  <a:solidFill>
                    <a:srgbClr val="991B1B"/>
                  </a:solidFill>
                  <a:latin typeface="Inter"/>
                </a:rPr>
                <a:t> </a:t>
              </a:r>
              <a:r>
                <a:rPr sz="1350" b="1" i="0" u="none" dirty="0" err="1">
                  <a:solidFill>
                    <a:srgbClr val="991B1B"/>
                  </a:solidFill>
                  <a:latin typeface="Inter"/>
                </a:rPr>
                <a:t>tudo</a:t>
              </a:r>
              <a:r>
                <a:rPr sz="1350" b="1" i="0" u="none" dirty="0">
                  <a:solidFill>
                    <a:srgbClr val="991B1B"/>
                  </a:solidFill>
                  <a:latin typeface="Inter"/>
                </a:rPr>
                <a:t>? </a:t>
              </a:r>
              <a:r>
                <a:rPr sz="1350" b="1" i="0" u="none" dirty="0" err="1">
                  <a:solidFill>
                    <a:srgbClr val="991B1B"/>
                  </a:solidFill>
                  <a:latin typeface="Inter"/>
                </a:rPr>
                <a:t>Chegou</a:t>
              </a:r>
              <a:r>
                <a:rPr sz="1350" b="1" i="0" u="none" dirty="0">
                  <a:solidFill>
                    <a:srgbClr val="991B1B"/>
                  </a:solidFill>
                  <a:latin typeface="Inter"/>
                </a:rPr>
                <a:t> </a:t>
              </a:r>
              <a:r>
                <a:rPr sz="1350" b="1" i="0" u="none" dirty="0" err="1">
                  <a:solidFill>
                    <a:srgbClr val="991B1B"/>
                  </a:solidFill>
                  <a:latin typeface="Inter"/>
                </a:rPr>
                <a:t>em</a:t>
              </a:r>
              <a:r>
                <a:rPr sz="1350" b="1" i="0" u="none" dirty="0">
                  <a:solidFill>
                    <a:srgbClr val="991B1B"/>
                  </a:solidFill>
                  <a:latin typeface="Inter"/>
                </a:rPr>
                <a:t> </a:t>
              </a:r>
              <a:r>
                <a:rPr sz="1350" b="1" i="0" u="none" dirty="0" err="1">
                  <a:solidFill>
                    <a:srgbClr val="991B1B"/>
                  </a:solidFill>
                  <a:latin typeface="Inter"/>
                </a:rPr>
                <a:t>partes</a:t>
              </a:r>
              <a:r>
                <a:rPr sz="1350" b="1" i="0" u="none" dirty="0">
                  <a:solidFill>
                    <a:srgbClr val="991B1B"/>
                  </a:solidFill>
                  <a:latin typeface="Inter"/>
                </a:rPr>
                <a:t>?</a:t>
              </a:r>
            </a:p>
          </p:txBody>
        </p:sp>
      </p:grp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E95438A2-C6C2-414B-AC58-B88EBB1DE21D}"/>
              </a:ext>
            </a:extLst>
          </p:cNvPr>
          <p:cNvGrpSpPr/>
          <p:nvPr/>
        </p:nvGrpSpPr>
        <p:grpSpPr>
          <a:xfrm>
            <a:off x="476250" y="2950244"/>
            <a:ext cx="5353050" cy="2342555"/>
            <a:chOff x="6381750" y="1086445"/>
            <a:chExt cx="5353050" cy="2342555"/>
          </a:xfrm>
        </p:grpSpPr>
        <p:sp>
          <p:nvSpPr>
            <p:cNvPr id="12" name="Rounded Rectangle 11"/>
            <p:cNvSpPr/>
            <p:nvPr/>
          </p:nvSpPr>
          <p:spPr>
            <a:xfrm>
              <a:off x="6381750" y="1086445"/>
              <a:ext cx="5353050" cy="2342555"/>
            </a:xfrm>
            <a:prstGeom prst="roundRect">
              <a:avLst>
                <a:gd name="adj" fmla="val 3636"/>
              </a:avLst>
            </a:prstGeom>
            <a:solidFill>
              <a:srgbClr val="F0FDF4"/>
            </a:solidFill>
            <a:ln w="19050">
              <a:solidFill>
                <a:srgbClr val="BBF7D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3" name="Picture 32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91300" y="1310282"/>
              <a:ext cx="171450" cy="17145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6858000" y="1295995"/>
              <a:ext cx="923925" cy="2000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16A34A"/>
                  </a:solidFill>
                  <a:latin typeface="Inter"/>
                </a:rPr>
                <a:t>DEPOIS</a:t>
              </a:r>
            </a:p>
          </p:txBody>
        </p:sp>
        <p:grpSp>
          <p:nvGrpSpPr>
            <p:cNvPr id="62" name="Agrupar 61">
              <a:extLst>
                <a:ext uri="{FF2B5EF4-FFF2-40B4-BE49-F238E27FC236}">
                  <a16:creationId xmlns:a16="http://schemas.microsoft.com/office/drawing/2014/main" id="{839FC6A1-3ABC-4E22-A70D-10A2A10583AA}"/>
                </a:ext>
              </a:extLst>
            </p:cNvPr>
            <p:cNvGrpSpPr/>
            <p:nvPr/>
          </p:nvGrpSpPr>
          <p:grpSpPr>
            <a:xfrm>
              <a:off x="6591300" y="1546621"/>
              <a:ext cx="4933950" cy="1222771"/>
              <a:chOff x="6591300" y="1870471"/>
              <a:chExt cx="4933950" cy="1222771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6591300" y="1870471"/>
                <a:ext cx="4933950" cy="1222771"/>
              </a:xfrm>
              <a:prstGeom prst="roundRect">
                <a:avLst>
                  <a:gd name="adj" fmla="val 6231"/>
                </a:avLst>
              </a:prstGeom>
              <a:solidFill>
                <a:srgbClr val="FFFFFF"/>
              </a:solidFill>
              <a:ln w="9525">
                <a:solidFill>
                  <a:srgbClr val="DCFCE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6753225" y="1994296"/>
                <a:ext cx="1667636" cy="223394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>
                  <a:lnSpc>
                    <a:spcPts val="1920"/>
                  </a:lnSpc>
                </a:pPr>
                <a:r>
                  <a:rPr sz="1200" b="1" i="0" u="none" dirty="0" err="1">
                    <a:solidFill>
                      <a:srgbClr val="1F3A5F"/>
                    </a:solidFill>
                    <a:latin typeface="monospace"/>
                  </a:rPr>
                  <a:t>Pedido</a:t>
                </a:r>
                <a:r>
                  <a:rPr sz="1200" b="1" i="0" u="none" dirty="0">
                    <a:solidFill>
                      <a:srgbClr val="1F3A5F"/>
                    </a:solidFill>
                    <a:latin typeface="monospace"/>
                  </a:rPr>
                  <a:t> de </a:t>
                </a:r>
                <a:r>
                  <a:rPr sz="1200" b="1" i="0" u="none" dirty="0" err="1">
                    <a:solidFill>
                      <a:srgbClr val="1F3A5F"/>
                    </a:solidFill>
                    <a:latin typeface="monospace"/>
                  </a:rPr>
                  <a:t>Compra</a:t>
                </a:r>
                <a:r>
                  <a:rPr sz="1200" b="1" i="0" u="none" dirty="0">
                    <a:solidFill>
                      <a:srgbClr val="1F3A5F"/>
                    </a:solidFill>
                    <a:latin typeface="monospace"/>
                  </a:rPr>
                  <a:t> nº 045</a:t>
                </a:r>
                <a:r>
                  <a:rPr lang="pt-BR" sz="1200" b="1" i="0" u="none" dirty="0">
                    <a:solidFill>
                      <a:srgbClr val="1F3A5F"/>
                    </a:solidFill>
                    <a:latin typeface="monospace"/>
                  </a:rPr>
                  <a:t> </a:t>
                </a:r>
                <a:endParaRPr sz="1200" b="1" i="0" u="none" dirty="0">
                  <a:solidFill>
                    <a:srgbClr val="1F3A5F"/>
                  </a:solidFill>
                  <a:latin typeface="monospace"/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6867525" y="2238077"/>
                <a:ext cx="1707455" cy="223394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>
                  <a:lnSpc>
                    <a:spcPts val="1920"/>
                  </a:lnSpc>
                </a:pPr>
                <a:r>
                  <a:rPr sz="1200" b="0" i="0" u="none" dirty="0">
                    <a:solidFill>
                      <a:srgbClr val="475569"/>
                    </a:solidFill>
                    <a:latin typeface="monospace"/>
                  </a:rPr>
                  <a:t>└ Item: </a:t>
                </a:r>
                <a:r>
                  <a:rPr sz="1200" b="0" i="0" u="none" dirty="0" err="1">
                    <a:solidFill>
                      <a:srgbClr val="475569"/>
                    </a:solidFill>
                    <a:latin typeface="monospace"/>
                  </a:rPr>
                  <a:t>álcool</a:t>
                </a:r>
                <a:r>
                  <a:rPr sz="1200" b="0" i="0" u="none" dirty="0">
                    <a:solidFill>
                      <a:srgbClr val="475569"/>
                    </a:solidFill>
                    <a:latin typeface="monospace"/>
                  </a:rPr>
                  <a:t> 70% (10 un.)</a:t>
                </a:r>
                <a:r>
                  <a:rPr lang="pt-BR" sz="1200" b="0" i="0" u="none" dirty="0">
                    <a:solidFill>
                      <a:srgbClr val="475569"/>
                    </a:solidFill>
                    <a:latin typeface="monospace"/>
                  </a:rPr>
                  <a:t> </a:t>
                </a:r>
                <a:endParaRPr sz="1200" b="0" i="0" u="none" dirty="0">
                  <a:solidFill>
                    <a:srgbClr val="475569"/>
                  </a:solidFill>
                  <a:latin typeface="monospace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7019925" y="2481857"/>
                <a:ext cx="2133276" cy="22217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>
                  <a:lnSpc>
                    <a:spcPts val="1920"/>
                  </a:lnSpc>
                </a:pPr>
                <a:r>
                  <a:rPr sz="1200" b="1" i="0" u="none" dirty="0">
                    <a:solidFill>
                      <a:srgbClr val="166534"/>
                    </a:solidFill>
                    <a:latin typeface="monospace"/>
                  </a:rPr>
                  <a:t>├ </a:t>
                </a:r>
                <a:r>
                  <a:rPr sz="1200" b="1" i="0" u="none" dirty="0" err="1">
                    <a:solidFill>
                      <a:srgbClr val="166534"/>
                    </a:solidFill>
                    <a:latin typeface="monospace"/>
                  </a:rPr>
                  <a:t>Recebimento</a:t>
                </a:r>
                <a:r>
                  <a:rPr sz="1200" b="1" i="0" u="none" dirty="0">
                    <a:solidFill>
                      <a:srgbClr val="166534"/>
                    </a:solidFill>
                    <a:latin typeface="monospace"/>
                  </a:rPr>
                  <a:t> 1 – 05/11 – 6 un.</a:t>
                </a:r>
                <a:r>
                  <a:rPr lang="pt-BR" sz="1200" b="1" i="0" u="none" dirty="0">
                    <a:solidFill>
                      <a:srgbClr val="166534"/>
                    </a:solidFill>
                    <a:latin typeface="monospace"/>
                  </a:rPr>
                  <a:t> </a:t>
                </a:r>
                <a:endParaRPr sz="1200" b="1" i="0" u="none" dirty="0">
                  <a:solidFill>
                    <a:srgbClr val="166534"/>
                  </a:solidFill>
                  <a:latin typeface="monospace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7019925" y="2725638"/>
                <a:ext cx="2101216" cy="223394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>
                  <a:lnSpc>
                    <a:spcPts val="1920"/>
                  </a:lnSpc>
                </a:pPr>
                <a:r>
                  <a:rPr sz="1200" b="1" i="0" u="none" dirty="0">
                    <a:solidFill>
                      <a:srgbClr val="166534"/>
                    </a:solidFill>
                    <a:latin typeface="monospace"/>
                  </a:rPr>
                  <a:t>└ </a:t>
                </a:r>
                <a:r>
                  <a:rPr sz="1200" b="1" i="0" u="none" dirty="0" err="1">
                    <a:solidFill>
                      <a:srgbClr val="166534"/>
                    </a:solidFill>
                    <a:latin typeface="monospace"/>
                  </a:rPr>
                  <a:t>Recebimento</a:t>
                </a:r>
                <a:r>
                  <a:rPr sz="1200" b="1" i="0" u="none" dirty="0">
                    <a:solidFill>
                      <a:srgbClr val="166534"/>
                    </a:solidFill>
                    <a:latin typeface="monospace"/>
                  </a:rPr>
                  <a:t> 2 – 12/11 – 4 un.</a:t>
                </a:r>
                <a:r>
                  <a:rPr lang="pt-BR" sz="1200" b="1" i="0" u="none" dirty="0">
                    <a:solidFill>
                      <a:srgbClr val="166534"/>
                    </a:solidFill>
                    <a:latin typeface="monospace"/>
                  </a:rPr>
                  <a:t> </a:t>
                </a:r>
                <a:endParaRPr sz="1200" b="1" i="0" u="none" dirty="0">
                  <a:solidFill>
                    <a:srgbClr val="166534"/>
                  </a:solidFill>
                  <a:latin typeface="monospace"/>
                </a:endParaRPr>
              </a:p>
            </p:txBody>
          </p:sp>
        </p:grpSp>
        <p:grpSp>
          <p:nvGrpSpPr>
            <p:cNvPr id="63" name="Agrupar 62">
              <a:extLst>
                <a:ext uri="{FF2B5EF4-FFF2-40B4-BE49-F238E27FC236}">
                  <a16:creationId xmlns:a16="http://schemas.microsoft.com/office/drawing/2014/main" id="{F1D08521-257D-4997-A0E3-1F23317A712D}"/>
                </a:ext>
              </a:extLst>
            </p:cNvPr>
            <p:cNvGrpSpPr/>
            <p:nvPr/>
          </p:nvGrpSpPr>
          <p:grpSpPr>
            <a:xfrm>
              <a:off x="6591300" y="2800945"/>
              <a:ext cx="5076825" cy="552450"/>
              <a:chOff x="6591300" y="3467695"/>
              <a:chExt cx="5076825" cy="552450"/>
            </a:xfrm>
          </p:grpSpPr>
          <p:sp>
            <p:nvSpPr>
              <p:cNvPr id="20" name="Rounded Rectangle 19"/>
              <p:cNvSpPr/>
              <p:nvPr/>
            </p:nvSpPr>
            <p:spPr>
              <a:xfrm>
                <a:off x="6591300" y="3467695"/>
                <a:ext cx="493395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FFFFFF"/>
              </a:solidFill>
              <a:ln w="9525">
                <a:solidFill>
                  <a:srgbClr val="DCFCE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6734175" y="3572470"/>
                <a:ext cx="2788890" cy="114300"/>
              </a:xfrm>
              <a:prstGeom prst="rect">
                <a:avLst/>
              </a:prstGeom>
              <a:solidFill>
                <a:srgbClr val="E8590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9523065" y="3572470"/>
                <a:ext cx="1859160" cy="114300"/>
              </a:xfrm>
              <a:prstGeom prst="rect">
                <a:avLst/>
              </a:prstGeom>
              <a:solidFill>
                <a:srgbClr val="16A34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6734175" y="3743920"/>
                <a:ext cx="561975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050" b="1" i="0" u="none">
                    <a:solidFill>
                      <a:srgbClr val="E8590C"/>
                    </a:solidFill>
                    <a:latin typeface="Inter"/>
                  </a:rPr>
                  <a:t>6/10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0906125" y="3743920"/>
                <a:ext cx="7620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050" b="1" i="0" u="none">
                    <a:solidFill>
                      <a:srgbClr val="16A34A"/>
                    </a:solidFill>
                    <a:latin typeface="Inter"/>
                  </a:rPr>
                  <a:t>10/10 ✔</a:t>
                </a:r>
              </a:p>
            </p:txBody>
          </p:sp>
        </p:grpSp>
      </p:grpSp>
      <p:pic>
        <p:nvPicPr>
          <p:cNvPr id="72" name="Imagem 71">
            <a:extLst>
              <a:ext uri="{FF2B5EF4-FFF2-40B4-BE49-F238E27FC236}">
                <a16:creationId xmlns:a16="http://schemas.microsoft.com/office/drawing/2014/main" id="{FFBD5E3E-E938-4D05-BD77-8FB14A6195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1063" y="1086445"/>
            <a:ext cx="5843738" cy="4206354"/>
          </a:xfrm>
          <a:prstGeom prst="rect">
            <a:avLst/>
          </a:prstGeom>
        </p:spPr>
      </p:pic>
      <p:sp>
        <p:nvSpPr>
          <p:cNvPr id="69" name="Retângulo 68">
            <a:extLst>
              <a:ext uri="{FF2B5EF4-FFF2-40B4-BE49-F238E27FC236}">
                <a16:creationId xmlns:a16="http://schemas.microsoft.com/office/drawing/2014/main" id="{EEA424DE-84F2-4D10-8698-ED3F9357EC74}"/>
              </a:ext>
            </a:extLst>
          </p:cNvPr>
          <p:cNvSpPr/>
          <p:nvPr/>
        </p:nvSpPr>
        <p:spPr>
          <a:xfrm>
            <a:off x="0" y="0"/>
            <a:ext cx="8877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381000" y="304800"/>
            <a:ext cx="11811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PROJETO SPACEADMIN ERP • GESTÃO DE SALAS COMERCIAIS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1000" y="504825"/>
            <a:ext cx="118110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Inter"/>
              </a:rPr>
              <a:t>Consultas SQL em ação: gerencial, integridade e relacionamento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6F18CAC1-8458-4251-809D-7FC3264EFE8D}"/>
              </a:ext>
            </a:extLst>
          </p:cNvPr>
          <p:cNvGrpSpPr/>
          <p:nvPr/>
        </p:nvGrpSpPr>
        <p:grpSpPr>
          <a:xfrm>
            <a:off x="1703264" y="883143"/>
            <a:ext cx="3683049" cy="4332094"/>
            <a:chOff x="381000" y="977206"/>
            <a:chExt cx="3683049" cy="4332094"/>
          </a:xfrm>
        </p:grpSpPr>
        <p:sp>
          <p:nvSpPr>
            <p:cNvPr id="7" name="Rectangle 6"/>
            <p:cNvSpPr/>
            <p:nvPr/>
          </p:nvSpPr>
          <p:spPr>
            <a:xfrm>
              <a:off x="390525" y="1901131"/>
              <a:ext cx="3663999" cy="3408168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" name="Rounded Rectangle 1"/>
            <p:cNvSpPr/>
            <p:nvPr/>
          </p:nvSpPr>
          <p:spPr>
            <a:xfrm>
              <a:off x="381000" y="977206"/>
              <a:ext cx="3683049" cy="4332094"/>
            </a:xfrm>
            <a:prstGeom prst="roundRect">
              <a:avLst>
                <a:gd name="adj" fmla="val 310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/>
            <p:cNvSpPr/>
            <p:nvPr/>
          </p:nvSpPr>
          <p:spPr>
            <a:xfrm>
              <a:off x="390525" y="986730"/>
              <a:ext cx="3663999" cy="4191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390525" y="1405830"/>
              <a:ext cx="3663999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90525" y="1891605"/>
              <a:ext cx="3663999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00100" y="1101030"/>
              <a:ext cx="3197274" cy="1905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75" b="1" i="0" u="none" dirty="0">
                  <a:solidFill>
                    <a:srgbClr val="FFFFFF"/>
                  </a:solidFill>
                  <a:latin typeface="Inter"/>
                </a:rPr>
                <a:t>Consulta </a:t>
              </a:r>
              <a:r>
                <a:rPr sz="1275" b="1" i="0" u="none" dirty="0" err="1">
                  <a:solidFill>
                    <a:srgbClr val="FFFFFF"/>
                  </a:solidFill>
                  <a:latin typeface="Inter"/>
                </a:rPr>
                <a:t>gerencial</a:t>
              </a:r>
              <a:endParaRPr sz="1275" b="1" i="0" u="none" dirty="0">
                <a:solidFill>
                  <a:srgbClr val="FFFFFF"/>
                </a:solidFill>
                <a:latin typeface="Inter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42925" y="1520130"/>
              <a:ext cx="3454449" cy="266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ts val="1518"/>
                </a:lnSpc>
              </a:pPr>
              <a:r>
                <a:rPr sz="1125" b="1" i="0" u="none" dirty="0" err="1">
                  <a:solidFill>
                    <a:srgbClr val="334155"/>
                  </a:solidFill>
                  <a:latin typeface="Inter"/>
                </a:rPr>
                <a:t>Quais</a:t>
              </a:r>
              <a:r>
                <a:rPr sz="1125" b="1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125" b="1" i="0" u="none" dirty="0" err="1">
                  <a:solidFill>
                    <a:srgbClr val="334155"/>
                  </a:solidFill>
                  <a:latin typeface="Inter"/>
                </a:rPr>
                <a:t>salas</a:t>
              </a:r>
              <a:r>
                <a:rPr sz="1125" b="1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125" b="1" i="0" u="none" dirty="0" err="1">
                  <a:solidFill>
                    <a:srgbClr val="334155"/>
                  </a:solidFill>
                  <a:latin typeface="Inter"/>
                </a:rPr>
                <a:t>geram</a:t>
              </a:r>
              <a:r>
                <a:rPr sz="1125" b="1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125" b="1" i="0" u="none" dirty="0" err="1">
                  <a:solidFill>
                    <a:srgbClr val="334155"/>
                  </a:solidFill>
                  <a:latin typeface="Inter"/>
                </a:rPr>
                <a:t>mais</a:t>
              </a:r>
              <a:r>
                <a:rPr sz="1125" b="1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125" b="1" i="0" u="none" dirty="0" err="1">
                  <a:solidFill>
                    <a:srgbClr val="334155"/>
                  </a:solidFill>
                  <a:latin typeface="Inter"/>
                </a:rPr>
                <a:t>receita</a:t>
              </a:r>
              <a:r>
                <a:rPr sz="1125" b="1" i="0" u="none" dirty="0">
                  <a:solidFill>
                    <a:srgbClr val="334155"/>
                  </a:solidFill>
                  <a:latin typeface="Inter"/>
                </a:rPr>
                <a:t>?</a:t>
              </a:r>
            </a:p>
          </p:txBody>
        </p:sp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3112711C-2467-4189-93F9-6EFE963F97A1}"/>
                </a:ext>
              </a:extLst>
            </p:cNvPr>
            <p:cNvGrpSpPr/>
            <p:nvPr/>
          </p:nvGrpSpPr>
          <p:grpSpPr>
            <a:xfrm>
              <a:off x="523875" y="1115317"/>
              <a:ext cx="3405530" cy="4105573"/>
              <a:chOff x="523875" y="1115317"/>
              <a:chExt cx="3405530" cy="4105573"/>
            </a:xfrm>
          </p:grpSpPr>
          <p:sp>
            <p:nvSpPr>
              <p:cNvPr id="99" name="Rounded Rectangle 22">
                <a:extLst>
                  <a:ext uri="{FF2B5EF4-FFF2-40B4-BE49-F238E27FC236}">
                    <a16:creationId xmlns:a16="http://schemas.microsoft.com/office/drawing/2014/main" id="{F1F71F69-6C46-46D9-A40B-955714EAB1FF}"/>
                  </a:ext>
                </a:extLst>
              </p:cNvPr>
              <p:cNvSpPr/>
              <p:nvPr/>
            </p:nvSpPr>
            <p:spPr>
              <a:xfrm>
                <a:off x="532106" y="3955902"/>
                <a:ext cx="3397299" cy="1264988"/>
              </a:xfrm>
              <a:prstGeom prst="roundRect">
                <a:avLst>
                  <a:gd name="adj" fmla="val 4036"/>
                </a:avLst>
              </a:prstGeom>
              <a:solidFill>
                <a:srgbClr val="FFFFFF"/>
              </a:solidFill>
              <a:ln w="19050">
                <a:solidFill>
                  <a:srgbClr val="CBD5E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523875" y="2034480"/>
                <a:ext cx="3397299" cy="1887884"/>
              </a:xfrm>
              <a:prstGeom prst="roundRect">
                <a:avLst>
                  <a:gd name="adj" fmla="val 4036"/>
                </a:avLst>
              </a:prstGeom>
              <a:solidFill>
                <a:srgbClr val="FFFFFF"/>
              </a:solidFill>
              <a:ln w="19050">
                <a:solidFill>
                  <a:srgbClr val="CBD5E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40" name="Picture 39" descr="image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2925" y="1115317"/>
                <a:ext cx="161925" cy="161925"/>
              </a:xfrm>
              <a:prstGeom prst="rect">
                <a:avLst/>
              </a:prstGeom>
            </p:spPr>
          </p:pic>
          <p:pic>
            <p:nvPicPr>
              <p:cNvPr id="43" name="Picture 42" descr="imag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3387" y="2692598"/>
                <a:ext cx="238125" cy="190500"/>
              </a:xfrm>
              <a:prstGeom prst="rect">
                <a:avLst/>
              </a:prstGeom>
            </p:spPr>
          </p:pic>
          <p:pic>
            <p:nvPicPr>
              <p:cNvPr id="44" name="Picture 43" descr="image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7200" y="4756695"/>
                <a:ext cx="190500" cy="190500"/>
              </a:xfrm>
              <a:prstGeom prst="rect">
                <a:avLst/>
              </a:prstGeom>
            </p:spPr>
          </p:pic>
          <p:sp>
            <p:nvSpPr>
              <p:cNvPr id="77" name="TextBox 76"/>
              <p:cNvSpPr txBox="1"/>
              <p:nvPr/>
            </p:nvSpPr>
            <p:spPr>
              <a:xfrm>
                <a:off x="523875" y="2940248"/>
                <a:ext cx="3397299" cy="3238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975" b="1" i="0" u="none">
                    <a:solidFill>
                      <a:srgbClr val="475569"/>
                    </a:solidFill>
                    <a:latin typeface="JetBrains Mono"/>
                  </a:rPr>
                  <a:t>[INSERIR PRINT: consulta SQL do faturamento por sala e mês]</a:t>
                </a:r>
              </a:p>
            </p:txBody>
          </p:sp>
          <p:pic>
            <p:nvPicPr>
              <p:cNvPr id="94" name="Imagem 93">
                <a:extLst>
                  <a:ext uri="{FF2B5EF4-FFF2-40B4-BE49-F238E27FC236}">
                    <a16:creationId xmlns:a16="http://schemas.microsoft.com/office/drawing/2014/main" id="{F7124960-DE29-4687-BDF8-74773A1069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2096" y="2098348"/>
                <a:ext cx="3309278" cy="1741586"/>
              </a:xfrm>
              <a:prstGeom prst="rect">
                <a:avLst/>
              </a:prstGeom>
            </p:spPr>
          </p:pic>
          <p:pic>
            <p:nvPicPr>
              <p:cNvPr id="96" name="Imagem 95">
                <a:extLst>
                  <a:ext uri="{FF2B5EF4-FFF2-40B4-BE49-F238E27FC236}">
                    <a16:creationId xmlns:a16="http://schemas.microsoft.com/office/drawing/2014/main" id="{C9AD31DC-0F90-40AB-82DA-0C7375EC84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2096" y="3986232"/>
                <a:ext cx="3309278" cy="1177185"/>
              </a:xfrm>
              <a:prstGeom prst="rect">
                <a:avLst/>
              </a:prstGeom>
            </p:spPr>
          </p:pic>
        </p:grp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6CB3B28D-8C3E-41FA-A3C1-803BF9328820}"/>
              </a:ext>
            </a:extLst>
          </p:cNvPr>
          <p:cNvGrpSpPr/>
          <p:nvPr/>
        </p:nvGrpSpPr>
        <p:grpSpPr>
          <a:xfrm>
            <a:off x="6796163" y="862905"/>
            <a:ext cx="3673524" cy="5613674"/>
            <a:chOff x="4254549" y="986730"/>
            <a:chExt cx="3673524" cy="5613674"/>
          </a:xfrm>
        </p:grpSpPr>
        <p:sp>
          <p:nvSpPr>
            <p:cNvPr id="11" name="Rectangle 10"/>
            <p:cNvSpPr/>
            <p:nvPr/>
          </p:nvSpPr>
          <p:spPr>
            <a:xfrm>
              <a:off x="4264074" y="986730"/>
              <a:ext cx="3663999" cy="419100"/>
            </a:xfrm>
            <a:prstGeom prst="rect">
              <a:avLst/>
            </a:prstGeom>
            <a:solidFill>
              <a:srgbClr val="E859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DC9A74D6-6335-4212-9532-41BFF53602DC}"/>
                </a:ext>
              </a:extLst>
            </p:cNvPr>
            <p:cNvGrpSpPr/>
            <p:nvPr/>
          </p:nvGrpSpPr>
          <p:grpSpPr>
            <a:xfrm>
              <a:off x="4254549" y="1101030"/>
              <a:ext cx="3673524" cy="5499374"/>
              <a:chOff x="4254549" y="1101030"/>
              <a:chExt cx="3673524" cy="5499374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4264074" y="1405830"/>
                <a:ext cx="3663999" cy="60513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264074" y="2010965"/>
                <a:ext cx="3663999" cy="4589439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4264074" y="2001440"/>
                <a:ext cx="3663999" cy="9525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264074" y="5857875"/>
                <a:ext cx="3663999" cy="9525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4397424" y="2372915"/>
                <a:ext cx="3397299" cy="800100"/>
              </a:xfrm>
              <a:prstGeom prst="roundRect">
                <a:avLst>
                  <a:gd name="adj" fmla="val 9523"/>
                </a:avLst>
              </a:prstGeom>
              <a:solidFill>
                <a:srgbClr val="FEF2F2"/>
              </a:solidFill>
              <a:ln w="19050">
                <a:solidFill>
                  <a:srgbClr val="EF444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4397424" y="3658790"/>
                <a:ext cx="3397299" cy="962025"/>
              </a:xfrm>
              <a:prstGeom prst="roundRect">
                <a:avLst>
                  <a:gd name="adj" fmla="val 7920"/>
                </a:avLst>
              </a:prstGeom>
              <a:solidFill>
                <a:srgbClr val="FFFFFF"/>
              </a:solidFill>
              <a:ln w="19050">
                <a:solidFill>
                  <a:srgbClr val="CBD5E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4397424" y="5106590"/>
                <a:ext cx="3397299" cy="1493814"/>
              </a:xfrm>
              <a:prstGeom prst="roundRect">
                <a:avLst>
                  <a:gd name="adj" fmla="val 9523"/>
                </a:avLst>
              </a:prstGeom>
              <a:solidFill>
                <a:srgbClr val="FFFFFF"/>
              </a:solidFill>
              <a:ln w="19050">
                <a:solidFill>
                  <a:srgbClr val="CBD5E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4397424" y="2144315"/>
                <a:ext cx="171450" cy="17145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ounded Rectangle 30"/>
              <p:cNvSpPr/>
              <p:nvPr/>
            </p:nvSpPr>
            <p:spPr>
              <a:xfrm>
                <a:off x="4397424" y="3430190"/>
                <a:ext cx="171450" cy="17145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4397424" y="4877990"/>
                <a:ext cx="171450" cy="17145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41" name="Picture 40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16474" y="1115317"/>
                <a:ext cx="161925" cy="161925"/>
              </a:xfrm>
              <a:prstGeom prst="rect">
                <a:avLst/>
              </a:prstGeom>
            </p:spPr>
          </p:pic>
          <p:pic>
            <p:nvPicPr>
              <p:cNvPr id="45" name="Picture 44" descr="image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00750" y="2487215"/>
                <a:ext cx="190500" cy="190500"/>
              </a:xfrm>
              <a:prstGeom prst="rect">
                <a:avLst/>
              </a:prstGeom>
            </p:spPr>
          </p:pic>
          <p:pic>
            <p:nvPicPr>
              <p:cNvPr id="46" name="Picture 45" descr="image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53137" y="3249215"/>
                <a:ext cx="85725" cy="114300"/>
              </a:xfrm>
              <a:prstGeom prst="rect">
                <a:avLst/>
              </a:prstGeom>
            </p:spPr>
          </p:pic>
          <p:pic>
            <p:nvPicPr>
              <p:cNvPr id="47" name="Picture 46" descr="image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10275" y="3773090"/>
                <a:ext cx="171450" cy="190500"/>
              </a:xfrm>
              <a:prstGeom prst="rect">
                <a:avLst/>
              </a:prstGeom>
            </p:spPr>
          </p:pic>
          <p:pic>
            <p:nvPicPr>
              <p:cNvPr id="48" name="Picture 47" descr="image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53137" y="4697015"/>
                <a:ext cx="85725" cy="114300"/>
              </a:xfrm>
              <a:prstGeom prst="rect">
                <a:avLst/>
              </a:prstGeom>
            </p:spPr>
          </p:pic>
          <p:pic>
            <p:nvPicPr>
              <p:cNvPr id="49" name="Picture 48" descr="image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00750" y="5220890"/>
                <a:ext cx="190500" cy="190500"/>
              </a:xfrm>
              <a:prstGeom prst="rect">
                <a:avLst/>
              </a:prstGeom>
            </p:spPr>
          </p:pic>
          <p:sp>
            <p:nvSpPr>
              <p:cNvPr id="68" name="TextBox 67"/>
              <p:cNvSpPr txBox="1"/>
              <p:nvPr/>
            </p:nvSpPr>
            <p:spPr>
              <a:xfrm>
                <a:off x="4673649" y="1101030"/>
                <a:ext cx="3197274" cy="190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275" b="1" i="0" u="none" dirty="0" err="1">
                    <a:solidFill>
                      <a:srgbClr val="FFFFFF"/>
                    </a:solidFill>
                    <a:latin typeface="Inter"/>
                  </a:rPr>
                  <a:t>Integridade</a:t>
                </a:r>
                <a:r>
                  <a:rPr sz="1275" b="1" i="0" u="none" dirty="0">
                    <a:solidFill>
                      <a:srgbClr val="FFFFFF"/>
                    </a:solidFill>
                    <a:latin typeface="Inter"/>
                  </a:rPr>
                  <a:t>: </a:t>
                </a:r>
                <a:r>
                  <a:rPr sz="1275" b="1" i="0" u="none" dirty="0" err="1">
                    <a:solidFill>
                      <a:srgbClr val="FFFFFF"/>
                    </a:solidFill>
                    <a:latin typeface="Inter"/>
                  </a:rPr>
                  <a:t>restrição</a:t>
                </a:r>
                <a:r>
                  <a:rPr sz="1275" b="1" i="0" u="none" dirty="0">
                    <a:solidFill>
                      <a:srgbClr val="FFFFFF"/>
                    </a:solidFill>
                    <a:latin typeface="Inter"/>
                  </a:rPr>
                  <a:t> </a:t>
                </a:r>
                <a:r>
                  <a:rPr sz="1275" b="1" i="0" u="none" dirty="0" err="1">
                    <a:solidFill>
                      <a:srgbClr val="FFFFFF"/>
                    </a:solidFill>
                    <a:latin typeface="Inter"/>
                  </a:rPr>
                  <a:t>funcionando</a:t>
                </a:r>
                <a:endParaRPr sz="1275" b="1" i="0" u="none" dirty="0">
                  <a:solidFill>
                    <a:srgbClr val="FFFFFF"/>
                  </a:solidFill>
                  <a:latin typeface="Inter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4416474" y="1520130"/>
                <a:ext cx="3454449" cy="37653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ts val="1518"/>
                  </a:lnSpc>
                </a:pPr>
                <a:r>
                  <a:rPr sz="1125" b="1" i="0" u="none">
                    <a:solidFill>
                      <a:srgbClr val="334155"/>
                    </a:solidFill>
                    <a:latin typeface="Inter"/>
                  </a:rPr>
                  <a:t>O banco impede cancelar uma reserva sem motivo?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4397424" y="2160790"/>
                <a:ext cx="13906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pt-BR" sz="900" b="1" i="0" u="none" dirty="0">
                    <a:solidFill>
                      <a:srgbClr val="475569"/>
                    </a:solidFill>
                    <a:latin typeface="Inter"/>
                  </a:rPr>
                  <a:t>     - </a:t>
                </a:r>
                <a:r>
                  <a:rPr sz="900" b="1" i="0" u="none" dirty="0">
                    <a:solidFill>
                      <a:srgbClr val="475569"/>
                    </a:solidFill>
                    <a:latin typeface="Inter"/>
                  </a:rPr>
                  <a:t>TESTE COM ERRO</a:t>
                </a: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4397424" y="3446665"/>
                <a:ext cx="14287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pt-BR" sz="900" b="1" i="0" u="none" dirty="0">
                    <a:solidFill>
                      <a:srgbClr val="475569"/>
                    </a:solidFill>
                    <a:latin typeface="Inter"/>
                  </a:rPr>
                  <a:t>     - </a:t>
                </a:r>
                <a:r>
                  <a:rPr sz="900" b="1" i="0" u="none" dirty="0">
                    <a:solidFill>
                      <a:srgbClr val="475569"/>
                    </a:solidFill>
                    <a:latin typeface="Inter"/>
                  </a:rPr>
                  <a:t>UPDATE CORRETO</a:t>
                </a: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4397424" y="4894465"/>
                <a:ext cx="1052512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pt-BR" sz="900" b="1" i="0" u="none" dirty="0">
                    <a:solidFill>
                      <a:srgbClr val="475569"/>
                    </a:solidFill>
                    <a:latin typeface="Inter"/>
                  </a:rPr>
                  <a:t>     - </a:t>
                </a:r>
                <a:r>
                  <a:rPr sz="900" b="1" i="0" u="none" dirty="0">
                    <a:solidFill>
                      <a:srgbClr val="475569"/>
                    </a:solidFill>
                    <a:latin typeface="Inter"/>
                  </a:rPr>
                  <a:t>RESULTADO</a:t>
                </a: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4254549" y="2144315"/>
                <a:ext cx="457200" cy="1714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825" b="1" i="0" u="none">
                    <a:solidFill>
                      <a:srgbClr val="1E293B"/>
                    </a:solidFill>
                    <a:latin typeface="Inter"/>
                  </a:rPr>
                  <a:t>1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4397424" y="2734865"/>
                <a:ext cx="3397299" cy="3238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975" b="1" i="0" u="none">
                    <a:solidFill>
                      <a:srgbClr val="B91C1C"/>
                    </a:solidFill>
                    <a:latin typeface="JetBrains Mono"/>
                  </a:rPr>
                  <a:t>[INSERIR PRINT: UPDATE sem data e motivo e a mensagem de erro de CHECK]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254549" y="3430190"/>
                <a:ext cx="457200" cy="1714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825" b="1" i="0" u="none">
                    <a:solidFill>
                      <a:srgbClr val="1E293B"/>
                    </a:solidFill>
                    <a:latin typeface="Inter"/>
                  </a:rPr>
                  <a:t>2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4397424" y="4020740"/>
                <a:ext cx="3397299" cy="48577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975" b="1" i="0" u="none">
                    <a:solidFill>
                      <a:srgbClr val="475569"/>
                    </a:solidFill>
                    <a:latin typeface="JetBrains Mono"/>
                  </a:rPr>
                  <a:t>[INSERIR PRINT: UPDATE com DATA_CANCELAMENTO e MOTIVO_CANCELAMENTO executado com sucesso]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254549" y="4877990"/>
                <a:ext cx="457200" cy="1714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825" b="1" i="0" u="none">
                    <a:solidFill>
                      <a:srgbClr val="1E293B"/>
                    </a:solidFill>
                    <a:latin typeface="Inter"/>
                  </a:rPr>
                  <a:t>3</a:t>
                </a:r>
              </a:p>
            </p:txBody>
          </p:sp>
          <p:pic>
            <p:nvPicPr>
              <p:cNvPr id="101" name="Imagem 100">
                <a:extLst>
                  <a:ext uri="{FF2B5EF4-FFF2-40B4-BE49-F238E27FC236}">
                    <a16:creationId xmlns:a16="http://schemas.microsoft.com/office/drawing/2014/main" id="{72132D0F-062B-4450-9F94-80F977F603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24039" y="2390269"/>
                <a:ext cx="3370683" cy="726787"/>
              </a:xfrm>
              <a:prstGeom prst="rect">
                <a:avLst/>
              </a:prstGeom>
            </p:spPr>
          </p:pic>
          <p:pic>
            <p:nvPicPr>
              <p:cNvPr id="103" name="Imagem 102">
                <a:extLst>
                  <a:ext uri="{FF2B5EF4-FFF2-40B4-BE49-F238E27FC236}">
                    <a16:creationId xmlns:a16="http://schemas.microsoft.com/office/drawing/2014/main" id="{F17376E4-05E5-412C-8E8C-C98314F45B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58781" y="3663462"/>
                <a:ext cx="3335941" cy="919253"/>
              </a:xfrm>
              <a:prstGeom prst="rect">
                <a:avLst/>
              </a:prstGeom>
            </p:spPr>
          </p:pic>
          <p:pic>
            <p:nvPicPr>
              <p:cNvPr id="105" name="Imagem 104">
                <a:extLst>
                  <a:ext uri="{FF2B5EF4-FFF2-40B4-BE49-F238E27FC236}">
                    <a16:creationId xmlns:a16="http://schemas.microsoft.com/office/drawing/2014/main" id="{F4895028-0AB6-4B71-90BD-B1EC5B3548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67722" y="5145723"/>
                <a:ext cx="3220340" cy="1359852"/>
              </a:xfrm>
              <a:prstGeom prst="rect">
                <a:avLst/>
              </a:prstGeom>
            </p:spPr>
          </p:pic>
        </p:grpSp>
      </p:grp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C3966C49-8EE0-4BD8-B2EE-02ADD27139FE}"/>
              </a:ext>
            </a:extLst>
          </p:cNvPr>
          <p:cNvSpPr/>
          <p:nvPr/>
        </p:nvSpPr>
        <p:spPr>
          <a:xfrm>
            <a:off x="0" y="0"/>
            <a:ext cx="8877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2" name="Imagem 51">
            <a:extLst>
              <a:ext uri="{FF2B5EF4-FFF2-40B4-BE49-F238E27FC236}">
                <a16:creationId xmlns:a16="http://schemas.microsoft.com/office/drawing/2014/main" id="{6AE30455-1781-42C5-9899-923DC33125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2890" y="3565623"/>
            <a:ext cx="3335941" cy="425351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07DEBC54-FBC2-4E3C-904F-3CAE5A154C5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01562" y="5634612"/>
            <a:ext cx="3228114" cy="7185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115317"/>
            <a:ext cx="161925" cy="1619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474" y="1115317"/>
            <a:ext cx="161925" cy="16192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81000" y="304800"/>
            <a:ext cx="11811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PROJETO SPACEADMIN ERP • GESTÃO DE SALAS COMERCIAIS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1000" y="504825"/>
            <a:ext cx="118110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Inter"/>
              </a:rPr>
              <a:t>Consultas SQL em ação: gerencial, integridade e relacionamento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5F7A278-B4F8-4E87-836D-9865A0684468}"/>
              </a:ext>
            </a:extLst>
          </p:cNvPr>
          <p:cNvGrpSpPr/>
          <p:nvPr/>
        </p:nvGrpSpPr>
        <p:grpSpPr>
          <a:xfrm>
            <a:off x="380999" y="1085046"/>
            <a:ext cx="4208720" cy="4775895"/>
            <a:chOff x="8128099" y="977205"/>
            <a:chExt cx="3692983" cy="4871144"/>
          </a:xfrm>
        </p:grpSpPr>
        <p:sp>
          <p:nvSpPr>
            <p:cNvPr id="4" name="Rounded Rectangle 3"/>
            <p:cNvSpPr/>
            <p:nvPr/>
          </p:nvSpPr>
          <p:spPr>
            <a:xfrm>
              <a:off x="8128099" y="977205"/>
              <a:ext cx="3683049" cy="4775895"/>
            </a:xfrm>
            <a:prstGeom prst="roundRect">
              <a:avLst>
                <a:gd name="adj" fmla="val 310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157083" y="986730"/>
              <a:ext cx="3663999" cy="419100"/>
            </a:xfrm>
            <a:prstGeom prst="rect">
              <a:avLst/>
            </a:prstGeom>
            <a:solidFill>
              <a:srgbClr val="0B72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7624" y="1405830"/>
              <a:ext cx="3663999" cy="6238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137624" y="2029718"/>
              <a:ext cx="3663999" cy="3818631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137624" y="2020192"/>
              <a:ext cx="3663999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270974" y="2163067"/>
              <a:ext cx="3397299" cy="609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270974" y="2867917"/>
              <a:ext cx="3397299" cy="2856607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356699" y="2248792"/>
              <a:ext cx="609600" cy="190500"/>
            </a:xfrm>
            <a:prstGeom prst="roundRect">
              <a:avLst>
                <a:gd name="adj" fmla="val 20000"/>
              </a:avLst>
            </a:prstGeom>
            <a:solidFill>
              <a:srgbClr val="E0F2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9199959" y="2248792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E0F2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081319" y="2248792"/>
              <a:ext cx="428625" cy="190500"/>
            </a:xfrm>
            <a:prstGeom prst="roundRect">
              <a:avLst>
                <a:gd name="adj" fmla="val 20000"/>
              </a:avLst>
            </a:prstGeom>
            <a:solidFill>
              <a:srgbClr val="E0F2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743604" y="2248792"/>
              <a:ext cx="838200" cy="190500"/>
            </a:xfrm>
            <a:prstGeom prst="roundRect">
              <a:avLst>
                <a:gd name="adj" fmla="val 20000"/>
              </a:avLst>
            </a:prstGeom>
            <a:solidFill>
              <a:srgbClr val="E0F2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8493174" y="2496442"/>
              <a:ext cx="428625" cy="190500"/>
            </a:xfrm>
            <a:prstGeom prst="roundRect">
              <a:avLst>
                <a:gd name="adj" fmla="val 20000"/>
              </a:avLst>
            </a:prstGeom>
            <a:solidFill>
              <a:srgbClr val="E0F2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9169449" y="2496442"/>
              <a:ext cx="885825" cy="190500"/>
            </a:xfrm>
            <a:prstGeom prst="roundRect">
              <a:avLst>
                <a:gd name="adj" fmla="val 20000"/>
              </a:avLst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302924" y="2496442"/>
              <a:ext cx="1143000" cy="190500"/>
            </a:xfrm>
            <a:prstGeom prst="roundRect">
              <a:avLst>
                <a:gd name="adj" fmla="val 20000"/>
              </a:avLst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2" name="Picture 41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90024" y="1115317"/>
              <a:ext cx="180975" cy="161925"/>
            </a:xfrm>
            <a:prstGeom prst="rect">
              <a:avLst/>
            </a:prstGeom>
          </p:spPr>
        </p:pic>
        <p:pic>
          <p:nvPicPr>
            <p:cNvPr id="50" name="Picture 49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83824" y="3848546"/>
              <a:ext cx="171450" cy="190500"/>
            </a:xfrm>
            <a:prstGeom prst="rect">
              <a:avLst/>
            </a:prstGeom>
          </p:spPr>
        </p:pic>
        <p:pic>
          <p:nvPicPr>
            <p:cNvPr id="56" name="Picture 55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13849" y="2296417"/>
              <a:ext cx="95250" cy="104775"/>
            </a:xfrm>
            <a:prstGeom prst="rect">
              <a:avLst/>
            </a:prstGeom>
          </p:spPr>
        </p:pic>
        <p:pic>
          <p:nvPicPr>
            <p:cNvPr id="57" name="Picture 56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57109" y="2296417"/>
              <a:ext cx="95250" cy="104775"/>
            </a:xfrm>
            <a:prstGeom prst="rect">
              <a:avLst/>
            </a:prstGeom>
          </p:spPr>
        </p:pic>
        <p:pic>
          <p:nvPicPr>
            <p:cNvPr id="58" name="Picture 57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138469" y="2296417"/>
              <a:ext cx="76200" cy="104775"/>
            </a:xfrm>
            <a:prstGeom prst="rect">
              <a:avLst/>
            </a:prstGeom>
          </p:spPr>
        </p:pic>
        <p:pic>
          <p:nvPicPr>
            <p:cNvPr id="59" name="Picture 58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800754" y="2296417"/>
              <a:ext cx="95250" cy="104775"/>
            </a:xfrm>
            <a:prstGeom prst="rect">
              <a:avLst/>
            </a:prstGeom>
          </p:spPr>
        </p:pic>
        <p:pic>
          <p:nvPicPr>
            <p:cNvPr id="60" name="Picture 59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550324" y="2544067"/>
              <a:ext cx="76200" cy="104775"/>
            </a:xfrm>
            <a:prstGeom prst="rect">
              <a:avLst/>
            </a:prstGeom>
          </p:spPr>
        </p:pic>
        <p:pic>
          <p:nvPicPr>
            <p:cNvPr id="61" name="Picture 60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226599" y="2544067"/>
              <a:ext cx="104775" cy="104775"/>
            </a:xfrm>
            <a:prstGeom prst="rect">
              <a:avLst/>
            </a:prstGeom>
          </p:spPr>
        </p:pic>
        <p:pic>
          <p:nvPicPr>
            <p:cNvPr id="62" name="Picture 61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360074" y="2544067"/>
              <a:ext cx="104775" cy="104775"/>
            </a:xfrm>
            <a:prstGeom prst="rect">
              <a:avLst/>
            </a:prstGeom>
          </p:spPr>
        </p:pic>
        <p:sp>
          <p:nvSpPr>
            <p:cNvPr id="71" name="TextBox 70"/>
            <p:cNvSpPr txBox="1"/>
            <p:nvPr/>
          </p:nvSpPr>
          <p:spPr>
            <a:xfrm>
              <a:off x="8566249" y="1101030"/>
              <a:ext cx="3178224" cy="1905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75" b="1" i="0" u="none" dirty="0" err="1">
                  <a:solidFill>
                    <a:srgbClr val="FFFFFF"/>
                  </a:solidFill>
                  <a:latin typeface="Inter"/>
                </a:rPr>
                <a:t>Relacionamento</a:t>
              </a:r>
              <a:r>
                <a:rPr sz="1275" b="1" i="0" u="none" dirty="0">
                  <a:solidFill>
                    <a:srgbClr val="FFFFFF"/>
                  </a:solidFill>
                  <a:latin typeface="Inter"/>
                </a:rPr>
                <a:t> </a:t>
              </a:r>
              <a:r>
                <a:rPr sz="1275" b="1" i="0" u="none" dirty="0" err="1">
                  <a:solidFill>
                    <a:srgbClr val="FFFFFF"/>
                  </a:solidFill>
                  <a:latin typeface="Inter"/>
                </a:rPr>
                <a:t>importante</a:t>
              </a:r>
              <a:endParaRPr sz="1275" b="1" i="0" u="none" dirty="0">
                <a:solidFill>
                  <a:srgbClr val="FFFFFF"/>
                </a:solidFill>
                <a:latin typeface="Inter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290024" y="1520130"/>
              <a:ext cx="3454449" cy="3952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ts val="1518"/>
                </a:lnSpc>
              </a:pPr>
              <a:r>
                <a:rPr sz="1125" b="1" i="0" u="none">
                  <a:solidFill>
                    <a:srgbClr val="334155"/>
                  </a:solidFill>
                  <a:latin typeface="Inter"/>
                </a:rPr>
                <a:t>Como a reserva se liga a cliente, proprietário, manutenção e custo?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413849" y="2277367"/>
              <a:ext cx="59055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825" b="1" i="0" u="none" dirty="0">
                  <a:solidFill>
                    <a:srgbClr val="0369A1"/>
                  </a:solidFill>
                  <a:latin typeface="Inter"/>
                </a:rPr>
                <a:t>    </a:t>
              </a:r>
              <a:r>
                <a:rPr sz="825" b="1" i="0" u="none" dirty="0" err="1">
                  <a:solidFill>
                    <a:srgbClr val="0369A1"/>
                  </a:solidFill>
                  <a:latin typeface="Inter"/>
                </a:rPr>
                <a:t>Cliente</a:t>
              </a:r>
              <a:endParaRPr sz="825" b="1" i="0" u="none" dirty="0">
                <a:solidFill>
                  <a:srgbClr val="0369A1"/>
                </a:solidFill>
                <a:latin typeface="Inter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9257109" y="2277367"/>
              <a:ext cx="62865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825" b="1" i="0" u="none" dirty="0">
                  <a:solidFill>
                    <a:srgbClr val="0369A1"/>
                  </a:solidFill>
                  <a:latin typeface="Inter"/>
                </a:rPr>
                <a:t>    </a:t>
              </a:r>
              <a:r>
                <a:rPr sz="825" b="1" i="0" u="none" dirty="0" err="1">
                  <a:solidFill>
                    <a:srgbClr val="0369A1"/>
                  </a:solidFill>
                  <a:latin typeface="Inter"/>
                </a:rPr>
                <a:t>Reserva</a:t>
              </a:r>
              <a:endParaRPr sz="825" b="1" i="0" u="none" dirty="0">
                <a:solidFill>
                  <a:srgbClr val="0369A1"/>
                </a:solidFill>
                <a:latin typeface="Inter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0138469" y="2277367"/>
              <a:ext cx="409575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825" b="1" i="0" u="none" dirty="0">
                  <a:solidFill>
                    <a:srgbClr val="0369A1"/>
                  </a:solidFill>
                  <a:latin typeface="Inter"/>
                </a:rPr>
                <a:t>    </a:t>
              </a:r>
              <a:r>
                <a:rPr sz="825" b="1" i="0" u="none" dirty="0">
                  <a:solidFill>
                    <a:srgbClr val="0369A1"/>
                  </a:solidFill>
                  <a:latin typeface="Inter"/>
                </a:rPr>
                <a:t>Sala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0800754" y="2277367"/>
              <a:ext cx="81915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825" b="1" i="0" u="none" dirty="0">
                  <a:solidFill>
                    <a:srgbClr val="0369A1"/>
                  </a:solidFill>
                  <a:latin typeface="Inter"/>
                </a:rPr>
                <a:t>     </a:t>
              </a:r>
              <a:r>
                <a:rPr sz="825" b="1" i="0" u="none" dirty="0" err="1">
                  <a:solidFill>
                    <a:srgbClr val="0369A1"/>
                  </a:solidFill>
                  <a:latin typeface="Inter"/>
                </a:rPr>
                <a:t>Proprietário</a:t>
              </a:r>
              <a:endParaRPr sz="825" b="1" i="0" u="none" dirty="0">
                <a:solidFill>
                  <a:srgbClr val="0369A1"/>
                </a:solidFill>
                <a:latin typeface="Inter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8550324" y="2525017"/>
              <a:ext cx="409575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825" b="1" i="0" u="none" dirty="0">
                  <a:solidFill>
                    <a:srgbClr val="0369A1"/>
                  </a:solidFill>
                  <a:latin typeface="Inter"/>
                </a:rPr>
                <a:t>    </a:t>
              </a:r>
              <a:r>
                <a:rPr sz="825" b="1" i="0" u="none" dirty="0">
                  <a:solidFill>
                    <a:srgbClr val="0369A1"/>
                  </a:solidFill>
                  <a:latin typeface="Inter"/>
                </a:rPr>
                <a:t>Sala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9226599" y="2525017"/>
              <a:ext cx="866775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825" b="1" i="0" u="none" dirty="0">
                  <a:solidFill>
                    <a:srgbClr val="0F766E"/>
                  </a:solidFill>
                  <a:latin typeface="Inter"/>
                </a:rPr>
                <a:t>     </a:t>
              </a:r>
              <a:r>
                <a:rPr sz="825" b="1" i="0" u="none" dirty="0" err="1">
                  <a:solidFill>
                    <a:srgbClr val="0F766E"/>
                  </a:solidFill>
                  <a:latin typeface="Inter"/>
                </a:rPr>
                <a:t>Manutenção</a:t>
              </a:r>
              <a:endParaRPr sz="825" b="1" i="0" u="none" dirty="0">
                <a:solidFill>
                  <a:srgbClr val="0F766E"/>
                </a:solidFill>
                <a:latin typeface="Inter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0360074" y="2525017"/>
              <a:ext cx="112395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825" b="1" i="0" u="none" dirty="0">
                  <a:solidFill>
                    <a:srgbClr val="0F766E"/>
                  </a:solidFill>
                  <a:latin typeface="Inter"/>
                </a:rPr>
                <a:t>     </a:t>
              </a:r>
              <a:r>
                <a:rPr sz="825" b="1" i="0" u="none" dirty="0" err="1">
                  <a:solidFill>
                    <a:srgbClr val="0F766E"/>
                  </a:solidFill>
                  <a:latin typeface="Inter"/>
                </a:rPr>
                <a:t>Custo</a:t>
              </a:r>
              <a:r>
                <a:rPr sz="825" b="1" i="0" u="none" dirty="0">
                  <a:solidFill>
                    <a:srgbClr val="0F766E"/>
                  </a:solidFill>
                  <a:latin typeface="Inter"/>
                </a:rPr>
                <a:t> (</a:t>
              </a:r>
              <a:r>
                <a:rPr sz="825" b="1" i="0" u="none" dirty="0" err="1">
                  <a:solidFill>
                    <a:srgbClr val="0F766E"/>
                  </a:solidFill>
                  <a:latin typeface="Inter"/>
                </a:rPr>
                <a:t>pago</a:t>
              </a:r>
              <a:r>
                <a:rPr sz="825" b="1" i="0" u="none" dirty="0">
                  <a:solidFill>
                    <a:srgbClr val="0F766E"/>
                  </a:solidFill>
                  <a:latin typeface="Inter"/>
                </a:rPr>
                <a:t>/</a:t>
              </a:r>
              <a:r>
                <a:rPr sz="825" b="1" i="0" u="none" dirty="0" err="1">
                  <a:solidFill>
                    <a:srgbClr val="0F766E"/>
                  </a:solidFill>
                  <a:latin typeface="Inter"/>
                </a:rPr>
                <a:t>não</a:t>
              </a:r>
              <a:r>
                <a:rPr sz="825" b="1" i="0" u="none" dirty="0">
                  <a:solidFill>
                    <a:srgbClr val="0F766E"/>
                  </a:solidFill>
                  <a:latin typeface="Inter"/>
                </a:rPr>
                <a:t>)</a:t>
              </a:r>
            </a:p>
          </p:txBody>
        </p:sp>
        <p:pic>
          <p:nvPicPr>
            <p:cNvPr id="107" name="Imagem 106">
              <a:extLst>
                <a:ext uri="{FF2B5EF4-FFF2-40B4-BE49-F238E27FC236}">
                  <a16:creationId xmlns:a16="http://schemas.microsoft.com/office/drawing/2014/main" id="{3E8EAB87-FFE4-4789-B964-39A662A1E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56699" y="2908694"/>
              <a:ext cx="3263206" cy="2759449"/>
            </a:xfrm>
            <a:prstGeom prst="rect">
              <a:avLst/>
            </a:prstGeom>
          </p:spPr>
        </p:pic>
      </p:grpSp>
      <p:pic>
        <p:nvPicPr>
          <p:cNvPr id="15" name="Imagem 14">
            <a:extLst>
              <a:ext uri="{FF2B5EF4-FFF2-40B4-BE49-F238E27FC236}">
                <a16:creationId xmlns:a16="http://schemas.microsoft.com/office/drawing/2014/main" id="{7FD852BE-883D-43E9-A47F-22ABC76D98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5239" y="3177913"/>
            <a:ext cx="7369321" cy="1049528"/>
          </a:xfrm>
          <a:prstGeom prst="rect">
            <a:avLst/>
          </a:prstGeom>
        </p:spPr>
      </p:pic>
      <p:sp>
        <p:nvSpPr>
          <p:cNvPr id="93" name="Retângulo 92">
            <a:extLst>
              <a:ext uri="{FF2B5EF4-FFF2-40B4-BE49-F238E27FC236}">
                <a16:creationId xmlns:a16="http://schemas.microsoft.com/office/drawing/2014/main" id="{DD3E23CE-1F6D-40BE-AD26-442CE9858769}"/>
              </a:ext>
            </a:extLst>
          </p:cNvPr>
          <p:cNvSpPr/>
          <p:nvPr/>
        </p:nvSpPr>
        <p:spPr>
          <a:xfrm>
            <a:off x="0" y="0"/>
            <a:ext cx="8877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898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697110"/>
            <a:ext cx="1300579" cy="257175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8639" y="1106685"/>
            <a:ext cx="9525" cy="552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96792" y="1106685"/>
            <a:ext cx="9525" cy="552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64946" y="1106685"/>
            <a:ext cx="9525" cy="552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94812" y="1106685"/>
            <a:ext cx="9525" cy="552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39667" y="1825674"/>
            <a:ext cx="647700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39667" y="2043261"/>
            <a:ext cx="447675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63542" y="2043261"/>
            <a:ext cx="781050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39667" y="2532310"/>
            <a:ext cx="647700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39667" y="2749897"/>
            <a:ext cx="1781175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39667" y="2967483"/>
            <a:ext cx="447675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63542" y="2967483"/>
            <a:ext cx="447675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39667" y="3404145"/>
            <a:ext cx="1514475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39667" y="3621732"/>
            <a:ext cx="1514475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39667" y="3839319"/>
            <a:ext cx="647700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39667" y="4056905"/>
            <a:ext cx="1514475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39667" y="4545806"/>
            <a:ext cx="447675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63542" y="4545806"/>
            <a:ext cx="1314450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763642" y="4763392"/>
            <a:ext cx="647700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39667" y="5304680"/>
            <a:ext cx="647700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63567" y="5304680"/>
            <a:ext cx="647700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39667" y="5702200"/>
            <a:ext cx="1781175" cy="198536"/>
          </a:xfrm>
          <a:prstGeom prst="roundRect">
            <a:avLst>
              <a:gd name="adj" fmla="val 1919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759023"/>
            <a:ext cx="1143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4677667"/>
            <a:ext cx="2095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3753594"/>
            <a:ext cx="20955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1957536"/>
            <a:ext cx="2095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2772965"/>
            <a:ext cx="20955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" y="5526583"/>
            <a:ext cx="2095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1957536"/>
            <a:ext cx="20955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2772965"/>
            <a:ext cx="20955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3753594"/>
            <a:ext cx="20955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4677667"/>
            <a:ext cx="20955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" y="5526583"/>
            <a:ext cx="209550" cy="152400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279433"/>
              </p:ext>
            </p:extLst>
          </p:nvPr>
        </p:nvGraphicFramePr>
        <p:xfrm>
          <a:off x="457200" y="1106685"/>
          <a:ext cx="11277598" cy="4970264"/>
        </p:xfrm>
        <a:graphic>
          <a:graphicData uri="http://schemas.openxmlformats.org/drawingml/2006/table">
            <a:tbl>
              <a:tblPr/>
              <a:tblGrid>
                <a:gridCol w="2480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8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9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0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8377">
                <a:tc>
                  <a:txBody>
                    <a:bodyPr/>
                    <a:lstStyle/>
                    <a:p>
                      <a:pPr algn="ctr"/>
                      <a:r>
                        <a:rPr lang="pt-BR"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Proposta</a:t>
                      </a:r>
                      <a:endParaRPr sz="1050" b="1" i="0" u="none" dirty="0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Que </a:t>
                      </a:r>
                      <a:r>
                        <a:rPr sz="1050" b="1" i="0" u="none" dirty="0" err="1">
                          <a:solidFill>
                            <a:srgbClr val="FFFFFF"/>
                          </a:solidFill>
                          <a:latin typeface="Inter"/>
                        </a:rPr>
                        <a:t>problema</a:t>
                      </a:r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 resolve?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 dirty="0" err="1">
                          <a:solidFill>
                            <a:srgbClr val="FFFFFF"/>
                          </a:solidFill>
                          <a:latin typeface="Inter"/>
                        </a:rPr>
                        <a:t>Quais</a:t>
                      </a:r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 dados </a:t>
                      </a:r>
                      <a:r>
                        <a:rPr sz="1050" b="1" i="0" u="none" dirty="0" err="1">
                          <a:solidFill>
                            <a:srgbClr val="FFFFFF"/>
                          </a:solidFill>
                          <a:latin typeface="Inter"/>
                        </a:rPr>
                        <a:t>usa</a:t>
                      </a:r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Que </a:t>
                      </a:r>
                      <a:r>
                        <a:rPr sz="1050" b="1" i="0" u="none" dirty="0" err="1">
                          <a:solidFill>
                            <a:srgbClr val="FFFFFF"/>
                          </a:solidFill>
                          <a:latin typeface="Inter"/>
                        </a:rPr>
                        <a:t>informação</a:t>
                      </a:r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 </a:t>
                      </a:r>
                      <a:r>
                        <a:rPr sz="1050" b="1" i="0" u="none" dirty="0" err="1">
                          <a:solidFill>
                            <a:srgbClr val="FFFFFF"/>
                          </a:solidFill>
                          <a:latin typeface="Inter"/>
                        </a:rPr>
                        <a:t>produz</a:t>
                      </a:r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Que </a:t>
                      </a:r>
                      <a:r>
                        <a:rPr sz="1050" b="1" i="0" u="none" dirty="0" err="1">
                          <a:solidFill>
                            <a:srgbClr val="FFFFFF"/>
                          </a:solidFill>
                          <a:latin typeface="Inter"/>
                        </a:rPr>
                        <a:t>benefício</a:t>
                      </a:r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 </a:t>
                      </a:r>
                      <a:r>
                        <a:rPr sz="1050" b="1" i="0" u="none" dirty="0" err="1">
                          <a:solidFill>
                            <a:srgbClr val="FFFFFF"/>
                          </a:solidFill>
                          <a:latin typeface="Inter"/>
                        </a:rPr>
                        <a:t>traz</a:t>
                      </a:r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37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 Previsão de demanda
</a:t>
                      </a:r>
                    </a:p>
                  </a:txBody>
                  <a:tcPr marL="3238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Salas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ociosas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em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certos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horários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e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lotadas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em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outros;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equipe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mal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dimensionada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RESERVAS (data, horário, status), SALAS, TIPOS_SALA</a:t>
                      </a:r>
                      <a:endParaRPr sz="1050" b="0" i="0" u="none" dirty="0">
                        <a:solidFill>
                          <a:srgbClr val="37415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Procura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prevista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por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sala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,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dia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e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horário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Mais ocupação e equipe planejada.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37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 Preço dinâmico
</a:t>
                      </a:r>
                    </a:p>
                  </a:txBody>
                  <a:tcPr marL="3238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Preço fixo por hora, igual no pico e no horário vazio.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RESERVAS (valor e horas), MOVIMENTACOES_FINANCEIRAS, SALAS, TAXAS.</a:t>
                      </a:r>
                      <a:endParaRPr sz="1050" b="0" i="0" u="none" dirty="0">
                        <a:solidFill>
                          <a:srgbClr val="37415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Preço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sugerido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por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sala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e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horário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Mais receita nos picos e mais ocupação nos horários vazios.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37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 Previsão de estoque e compras
</a:t>
                      </a:r>
                    </a:p>
                  </a:txBody>
                  <a:tcPr marL="3238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Falta de insumos e compras emergenciais mais caras.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USO_MATERIAIS_LIMPEZA, MOVIMENTACOES_ESTOQUE, PRODUTOS, PRODUTOS_FORNECEDORES.</a:t>
                      </a:r>
                      <a:endParaRPr sz="1050" b="0" i="0" u="none" dirty="0">
                        <a:solidFill>
                          <a:srgbClr val="37415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Consumo previsto e quando e quanto comprar.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Menos falta de material e menos compra emergencial.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37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 Assistente virtual e recomendação
</a:t>
                      </a:r>
                    </a:p>
                  </a:txBody>
                  <a:tcPr marL="3238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Cliente precisa pesquisar disponibilidade e preço; atendimento sobrecarregado.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SALAS, EQUIPAMENTOS_SALAS, horários e bloqueios, RESERVAS.</a:t>
                      </a:r>
                      <a:endParaRPr sz="1050" b="0" i="0" u="none" dirty="0">
                        <a:solidFill>
                          <a:srgbClr val="37415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Respostas imediatas e sala recomendada ao perfil do cliente.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Reserva mais rápida e menos carga no atendimento.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379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Segmentação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de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clientes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
</a:t>
                      </a:r>
                    </a:p>
                  </a:txBody>
                  <a:tcPr marL="3238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Campanhas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iguais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para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todos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;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clientes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inativos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não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são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reativados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CLIENTES, RESERVAS (frequência, valor), MOVIMENTACOES_FINANCEIRAS.</a:t>
                      </a:r>
                      <a:endParaRPr sz="1050" b="0" i="0" u="none" dirty="0">
                        <a:solidFill>
                          <a:srgbClr val="37415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74151"/>
                          </a:solidFill>
                          <a:latin typeface="Inter"/>
                        </a:rPr>
                        <a:t>Grupos de clientes (frequentes, ocasionais, inativos) e risco de abandono.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Fidelização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e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reativação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74151"/>
                          </a:solidFill>
                          <a:latin typeface="Inter"/>
                        </a:rPr>
                        <a:t>direcionadas</a:t>
                      </a:r>
                      <a:r>
                        <a:rPr sz="10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457200" y="342900"/>
            <a:ext cx="11734800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1F3A5F"/>
                </a:solidFill>
                <a:latin typeface="Inter"/>
              </a:rPr>
              <a:t>IA no SpaceAdmin: o que pode ser feito com os nossos dados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425" y="744735"/>
            <a:ext cx="88004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C2410C"/>
                </a:solidFill>
                <a:latin typeface="Inter"/>
              </a:rPr>
              <a:t>Evolução</a:t>
            </a:r>
            <a:r>
              <a:rPr sz="1050" b="1" i="0" u="none" dirty="0">
                <a:solidFill>
                  <a:srgbClr val="C2410C"/>
                </a:solidFill>
                <a:latin typeface="Inter"/>
              </a:rPr>
              <a:t> </a:t>
            </a:r>
            <a:r>
              <a:rPr sz="1050" b="1" i="0" u="none" dirty="0" err="1">
                <a:solidFill>
                  <a:srgbClr val="C2410C"/>
                </a:solidFill>
                <a:latin typeface="Inter"/>
              </a:rPr>
              <a:t>futura</a:t>
            </a:r>
            <a:endParaRPr sz="1050" b="1" i="0" u="none" dirty="0">
              <a:solidFill>
                <a:srgbClr val="C2410C"/>
              </a:solidFill>
              <a:latin typeface="Inter"/>
            </a:endParaRP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459759FE-5975-4E86-960C-D1CD486FFD31}"/>
              </a:ext>
            </a:extLst>
          </p:cNvPr>
          <p:cNvSpPr/>
          <p:nvPr/>
        </p:nvSpPr>
        <p:spPr>
          <a:xfrm>
            <a:off x="0" y="0"/>
            <a:ext cx="8877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1377255"/>
            <a:ext cx="5056882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139255"/>
            <a:ext cx="5056882" cy="3974008"/>
          </a:xfrm>
          <a:prstGeom prst="roundRect">
            <a:avLst>
              <a:gd name="adj" fmla="val 2876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103" y="1501080"/>
            <a:ext cx="2190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241" y="3807172"/>
            <a:ext cx="3048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81000"/>
            <a:ext cx="11734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ENCERRAMENTO DO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9600"/>
            <a:ext cx="2136611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Repositório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6768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Entrega técnica da modelagem e plano de evolução do ERP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0129" y="1777305"/>
            <a:ext cx="601154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2563EB"/>
                </a:solidFill>
                <a:latin typeface="Plus Jakarta Sans"/>
              </a:rPr>
              <a:t>github.com/Pablo-Liraa/erp-agendamento-salas-spaceadmin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64372"/>
            <a:ext cx="505688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[INSERIR PRINT / QR CODE GITHUB]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49CC7FA6-C3B0-4B2D-926E-4C233EBABC2E}"/>
              </a:ext>
            </a:extLst>
          </p:cNvPr>
          <p:cNvGrpSpPr/>
          <p:nvPr/>
        </p:nvGrpSpPr>
        <p:grpSpPr>
          <a:xfrm>
            <a:off x="6579269" y="1066800"/>
            <a:ext cx="5003131" cy="4704523"/>
            <a:chOff x="6968971" y="1648214"/>
            <a:chExt cx="4509856" cy="4424111"/>
          </a:xfrm>
        </p:grpSpPr>
        <p:sp>
          <p:nvSpPr>
            <p:cNvPr id="21" name="Rounded Rectangle 2">
              <a:extLst>
                <a:ext uri="{FF2B5EF4-FFF2-40B4-BE49-F238E27FC236}">
                  <a16:creationId xmlns:a16="http://schemas.microsoft.com/office/drawing/2014/main" id="{05CF0B16-5330-4E8E-91AD-EC1E38C6DE9F}"/>
                </a:ext>
              </a:extLst>
            </p:cNvPr>
            <p:cNvSpPr/>
            <p:nvPr/>
          </p:nvSpPr>
          <p:spPr>
            <a:xfrm>
              <a:off x="6968971" y="1648214"/>
              <a:ext cx="4509856" cy="4424111"/>
            </a:xfrm>
            <a:prstGeom prst="roundRect">
              <a:avLst>
                <a:gd name="adj" fmla="val 15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51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pic>
          <p:nvPicPr>
            <p:cNvPr id="22" name="Imagem 21">
              <a:extLst>
                <a:ext uri="{FF2B5EF4-FFF2-40B4-BE49-F238E27FC236}">
                  <a16:creationId xmlns:a16="http://schemas.microsoft.com/office/drawing/2014/main" id="{F9ADA193-579E-42E4-A873-E893D35C14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98" t="12757" r="4126" b="6717"/>
            <a:stretch/>
          </p:blipFill>
          <p:spPr>
            <a:xfrm>
              <a:off x="7160656" y="2158305"/>
              <a:ext cx="4028832" cy="3469490"/>
            </a:xfrm>
            <a:prstGeom prst="rect">
              <a:avLst/>
            </a:prstGeom>
          </p:spPr>
        </p:pic>
      </p:grpSp>
      <p:sp>
        <p:nvSpPr>
          <p:cNvPr id="23" name="Retângulo 22">
            <a:extLst>
              <a:ext uri="{FF2B5EF4-FFF2-40B4-BE49-F238E27FC236}">
                <a16:creationId xmlns:a16="http://schemas.microsoft.com/office/drawing/2014/main" id="{3A890252-D116-4246-870B-708FBB952CF0}"/>
              </a:ext>
            </a:extLst>
          </p:cNvPr>
          <p:cNvSpPr/>
          <p:nvPr/>
        </p:nvSpPr>
        <p:spPr>
          <a:xfrm>
            <a:off x="0" y="0"/>
            <a:ext cx="8877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3083F244-EBF2-4D48-A444-704C2E2AB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253554"/>
            <a:ext cx="4779146" cy="37655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0" y="3903166"/>
            <a:ext cx="571500" cy="285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212" y="1868983"/>
            <a:ext cx="40957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2554783"/>
            <a:ext cx="10001250" cy="1119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1" i="0" u="none">
                <a:solidFill>
                  <a:srgbClr val="F8FAFC"/>
                </a:solidFill>
                <a:latin typeface="Plus Jakarta Sans"/>
              </a:rPr>
              <a:t>"O SpaceAdmin transforma dados em informação útil, organizando os processos, acompanhando indicadores e apoiando a tomada de decisão."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57812" y="4274641"/>
            <a:ext cx="14763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Plus Jakarta Sans"/>
              </a:rPr>
              <a:t>Obrigado!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3312" y="4788991"/>
            <a:ext cx="4905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Plus Jakarta Sans"/>
              </a:rPr>
              <a:t>Estamos abertos a dúvidas e considerações da banca.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1321</Words>
  <Application>Microsoft Office PowerPoint</Application>
  <PresentationFormat>Widescreen</PresentationFormat>
  <Paragraphs>232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monospace</vt:lpstr>
      <vt:lpstr>Arial</vt:lpstr>
      <vt:lpstr>Calibri</vt:lpstr>
      <vt:lpstr>JetBrains Mono</vt:lpstr>
      <vt:lpstr>Space Grotesk</vt:lpstr>
      <vt:lpstr>Plus Jakarta Sans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Pablo Ferreira Lira</cp:lastModifiedBy>
  <cp:revision>34</cp:revision>
  <dcterms:created xsi:type="dcterms:W3CDTF">2013-01-27T09:14:16Z</dcterms:created>
  <dcterms:modified xsi:type="dcterms:W3CDTF">2026-10-31T18:03:56Z</dcterms:modified>
  <cp:category/>
</cp:coreProperties>
</file>